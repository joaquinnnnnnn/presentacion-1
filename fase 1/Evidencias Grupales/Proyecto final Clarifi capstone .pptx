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2000"/>
  <p:notesSz cx="6858000" cy="9144000"/>
  <p:embeddedFontLst>
    <p:embeddedFont>
      <p:font typeface="Roboto Mono"/>
      <p:regular r:id="rId27"/>
      <p:bold r:id="rId28"/>
      <p:italic r:id="rId29"/>
      <p:boldItalic r:id="rId30"/>
    </p:embeddedFont>
    <p:embeddedFont>
      <p:font typeface="Century Gothic"/>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huKXWATkWjtwD/B2p3rzqZoLn+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80909A-7882-4EDC-A55A-CCE0AADC7F4B}">
  <a:tblStyle styleId="{0580909A-7882-4EDC-A55A-CCE0AADC7F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Mon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enturyGothic-regular.fntdata"/><Relationship Id="rId30" Type="http://schemas.openxmlformats.org/officeDocument/2006/relationships/font" Target="fonts/RobotoMono-boldItalic.fntdata"/><Relationship Id="rId11" Type="http://schemas.openxmlformats.org/officeDocument/2006/relationships/slide" Target="slides/slide5.xml"/><Relationship Id="rId33" Type="http://schemas.openxmlformats.org/officeDocument/2006/relationships/font" Target="fonts/CenturyGothic-italic.fntdata"/><Relationship Id="rId10" Type="http://schemas.openxmlformats.org/officeDocument/2006/relationships/slide" Target="slides/slide4.xml"/><Relationship Id="rId32" Type="http://schemas.openxmlformats.org/officeDocument/2006/relationships/font" Target="fonts/CenturyGothic-bold.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CenturyGothic-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ccd5e16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3accd5e168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a419f07b38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g3a419f07b38_1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c84433e3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c84433e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c84433e37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c84433e3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cdf2023b3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acdf2023b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c84433e37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c84433e3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pic>
        <p:nvPicPr>
          <p:cNvPr descr="Celestia-R1---OverlayTitleHD.png" id="12" name="Google Shape;12;p34"/>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3" name="Google Shape;13;p34"/>
          <p:cNvSpPr txBox="1"/>
          <p:nvPr>
            <p:ph type="ctrTitle"/>
          </p:nvPr>
        </p:nvSpPr>
        <p:spPr>
          <a:xfrm>
            <a:off x="3962399" y="1964267"/>
            <a:ext cx="7197726" cy="2421464"/>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lt1"/>
              </a:buClr>
              <a:buSzPts val="4800"/>
              <a:buFont typeface="Calibri"/>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4"/>
          <p:cNvSpPr txBox="1"/>
          <p:nvPr>
            <p:ph idx="1" type="subTitle"/>
          </p:nvPr>
        </p:nvSpPr>
        <p:spPr>
          <a:xfrm>
            <a:off x="3962399" y="4385732"/>
            <a:ext cx="7197726" cy="1405467"/>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SzPts val="1800"/>
              <a:buNone/>
              <a:defRPr sz="1800" cap="none">
                <a:solidFill>
                  <a:schemeClr val="lt1"/>
                </a:solidFill>
              </a:defRPr>
            </a:lvl1pPr>
            <a:lvl2pPr lvl="1" algn="ctr">
              <a:spcBef>
                <a:spcPts val="1000"/>
              </a:spcBef>
              <a:spcAft>
                <a:spcPts val="0"/>
              </a:spcAft>
              <a:buSzPts val="1600"/>
              <a:buNone/>
              <a:defRPr>
                <a:solidFill>
                  <a:schemeClr val="lt1"/>
                </a:solidFill>
              </a:defRPr>
            </a:lvl2pPr>
            <a:lvl3pPr lvl="2" algn="ctr">
              <a:spcBef>
                <a:spcPts val="1000"/>
              </a:spcBef>
              <a:spcAft>
                <a:spcPts val="0"/>
              </a:spcAft>
              <a:buSzPts val="1400"/>
              <a:buNone/>
              <a:defRPr>
                <a:solidFill>
                  <a:schemeClr val="lt1"/>
                </a:solidFill>
              </a:defRPr>
            </a:lvl3pPr>
            <a:lvl4pPr lvl="3" algn="ctr">
              <a:spcBef>
                <a:spcPts val="1000"/>
              </a:spcBef>
              <a:spcAft>
                <a:spcPts val="0"/>
              </a:spcAft>
              <a:buSzPts val="1200"/>
              <a:buNone/>
              <a:defRPr>
                <a:solidFill>
                  <a:schemeClr val="lt1"/>
                </a:solidFill>
              </a:defRPr>
            </a:lvl4pPr>
            <a:lvl5pPr lvl="4" algn="ctr">
              <a:spcBef>
                <a:spcPts val="1000"/>
              </a:spcBef>
              <a:spcAft>
                <a:spcPts val="0"/>
              </a:spcAft>
              <a:buSzPts val="1200"/>
              <a:buNone/>
              <a:defRPr>
                <a:solidFill>
                  <a:schemeClr val="lt1"/>
                </a:solidFill>
              </a:defRPr>
            </a:lvl5pPr>
            <a:lvl6pPr lvl="5" algn="ctr">
              <a:spcBef>
                <a:spcPts val="1000"/>
              </a:spcBef>
              <a:spcAft>
                <a:spcPts val="0"/>
              </a:spcAft>
              <a:buSzPts val="1200"/>
              <a:buNone/>
              <a:defRPr>
                <a:solidFill>
                  <a:schemeClr val="lt1"/>
                </a:solidFill>
              </a:defRPr>
            </a:lvl6pPr>
            <a:lvl7pPr lvl="6" algn="ctr">
              <a:spcBef>
                <a:spcPts val="1000"/>
              </a:spcBef>
              <a:spcAft>
                <a:spcPts val="0"/>
              </a:spcAft>
              <a:buSzPts val="1200"/>
              <a:buNone/>
              <a:defRPr>
                <a:solidFill>
                  <a:schemeClr val="lt1"/>
                </a:solidFill>
              </a:defRPr>
            </a:lvl7pPr>
            <a:lvl8pPr lvl="7" algn="ctr">
              <a:spcBef>
                <a:spcPts val="1000"/>
              </a:spcBef>
              <a:spcAft>
                <a:spcPts val="0"/>
              </a:spcAft>
              <a:buSzPts val="1200"/>
              <a:buNone/>
              <a:defRPr>
                <a:solidFill>
                  <a:schemeClr val="lt1"/>
                </a:solidFill>
              </a:defRPr>
            </a:lvl8pPr>
            <a:lvl9pPr lvl="8" algn="ctr">
              <a:spcBef>
                <a:spcPts val="1000"/>
              </a:spcBef>
              <a:spcAft>
                <a:spcPts val="1000"/>
              </a:spcAft>
              <a:buSzPts val="1200"/>
              <a:buNone/>
              <a:defRPr>
                <a:solidFill>
                  <a:schemeClr val="lt1"/>
                </a:solidFill>
              </a:defRPr>
            </a:lvl9pPr>
          </a:lstStyle>
          <a:p/>
        </p:txBody>
      </p:sp>
      <p:sp>
        <p:nvSpPr>
          <p:cNvPr id="15" name="Google Shape;15;p34"/>
          <p:cNvSpPr txBox="1"/>
          <p:nvPr>
            <p:ph idx="10" type="dt"/>
          </p:nvPr>
        </p:nvSpPr>
        <p:spPr>
          <a:xfrm>
            <a:off x="8932558"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4"/>
          <p:cNvSpPr txBox="1"/>
          <p:nvPr>
            <p:ph idx="11" type="ftr"/>
          </p:nvPr>
        </p:nvSpPr>
        <p:spPr>
          <a:xfrm>
            <a:off x="3962399" y="5870575"/>
            <a:ext cx="4893958"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4"/>
          <p:cNvSpPr txBox="1"/>
          <p:nvPr>
            <p:ph idx="12" type="sldNum"/>
          </p:nvPr>
        </p:nvSpPr>
        <p:spPr>
          <a:xfrm>
            <a:off x="10608958"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8" name="Shape 18"/>
        <p:cNvGrpSpPr/>
        <p:nvPr/>
      </p:nvGrpSpPr>
      <p:grpSpPr>
        <a:xfrm>
          <a:off x="0" y="0"/>
          <a:ext cx="0" cy="0"/>
          <a:chOff x="0" y="0"/>
          <a:chExt cx="0" cy="0"/>
        </a:xfrm>
      </p:grpSpPr>
      <p:pic>
        <p:nvPicPr>
          <p:cNvPr descr="Celestia-R1---OverlayContentHD.png" id="19" name="Google Shape;19;p37"/>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0" name="Google Shape;20;p37"/>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7"/>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22" name="Google Shape;22;p3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5" name="Shape 25"/>
        <p:cNvGrpSpPr/>
        <p:nvPr/>
      </p:nvGrpSpPr>
      <p:grpSpPr>
        <a:xfrm>
          <a:off x="0" y="0"/>
          <a:ext cx="0" cy="0"/>
          <a:chOff x="0" y="0"/>
          <a:chExt cx="0" cy="0"/>
        </a:xfrm>
      </p:grpSpPr>
      <p:pic>
        <p:nvPicPr>
          <p:cNvPr descr="Celestia-R1---OverlayContentHD.png" id="26" name="Google Shape;26;p3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7" name="Google Shape;27;p38"/>
          <p:cNvSpPr txBox="1"/>
          <p:nvPr>
            <p:ph type="title"/>
          </p:nvPr>
        </p:nvSpPr>
        <p:spPr>
          <a:xfrm>
            <a:off x="685800" y="3308581"/>
            <a:ext cx="10131427"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000"/>
              <a:buFont typeface="Calibri"/>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8"/>
          <p:cNvSpPr txBox="1"/>
          <p:nvPr>
            <p:ph idx="1" type="body"/>
          </p:nvPr>
        </p:nvSpPr>
        <p:spPr>
          <a:xfrm>
            <a:off x="685799" y="4777381"/>
            <a:ext cx="1013142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2000"/>
              <a:buNone/>
              <a:defRPr sz="2000" cap="none">
                <a:solidFill>
                  <a:schemeClr val="lt1"/>
                </a:solidFill>
              </a:defRPr>
            </a:lvl1pPr>
            <a:lvl2pPr indent="-228600" lvl="1" marL="914400" algn="l">
              <a:spcBef>
                <a:spcPts val="1000"/>
              </a:spcBef>
              <a:spcAft>
                <a:spcPts val="0"/>
              </a:spcAft>
              <a:buSzPts val="1800"/>
              <a:buNone/>
              <a:defRPr sz="1800">
                <a:solidFill>
                  <a:schemeClr val="lt1"/>
                </a:solidFill>
              </a:defRPr>
            </a:lvl2pPr>
            <a:lvl3pPr indent="-228600" lvl="2" marL="1371600" algn="l">
              <a:spcBef>
                <a:spcPts val="1000"/>
              </a:spcBef>
              <a:spcAft>
                <a:spcPts val="0"/>
              </a:spcAft>
              <a:buSzPts val="1600"/>
              <a:buNone/>
              <a:defRPr sz="1600">
                <a:solidFill>
                  <a:schemeClr val="lt1"/>
                </a:solidFill>
              </a:defRPr>
            </a:lvl3pPr>
            <a:lvl4pPr indent="-228600" lvl="3" marL="1828800" algn="l">
              <a:spcBef>
                <a:spcPts val="1000"/>
              </a:spcBef>
              <a:spcAft>
                <a:spcPts val="0"/>
              </a:spcAft>
              <a:buSzPts val="1400"/>
              <a:buNone/>
              <a:defRPr sz="1400">
                <a:solidFill>
                  <a:schemeClr val="lt1"/>
                </a:solidFill>
              </a:defRPr>
            </a:lvl4pPr>
            <a:lvl5pPr indent="-228600" lvl="4" marL="2286000" algn="l">
              <a:spcBef>
                <a:spcPts val="1000"/>
              </a:spcBef>
              <a:spcAft>
                <a:spcPts val="0"/>
              </a:spcAft>
              <a:buSzPts val="1400"/>
              <a:buNone/>
              <a:defRPr sz="1400">
                <a:solidFill>
                  <a:schemeClr val="lt1"/>
                </a:solidFill>
              </a:defRPr>
            </a:lvl5pPr>
            <a:lvl6pPr indent="-228600" lvl="5" marL="2743200" algn="l">
              <a:spcBef>
                <a:spcPts val="1000"/>
              </a:spcBef>
              <a:spcAft>
                <a:spcPts val="0"/>
              </a:spcAft>
              <a:buSzPts val="1400"/>
              <a:buNone/>
              <a:defRPr sz="1400">
                <a:solidFill>
                  <a:schemeClr val="lt1"/>
                </a:solidFill>
              </a:defRPr>
            </a:lvl6pPr>
            <a:lvl7pPr indent="-228600" lvl="6" marL="3200400" algn="l">
              <a:spcBef>
                <a:spcPts val="1000"/>
              </a:spcBef>
              <a:spcAft>
                <a:spcPts val="0"/>
              </a:spcAft>
              <a:buSzPts val="1400"/>
              <a:buNone/>
              <a:defRPr sz="1400">
                <a:solidFill>
                  <a:schemeClr val="lt1"/>
                </a:solidFill>
              </a:defRPr>
            </a:lvl7pPr>
            <a:lvl8pPr indent="-228600" lvl="7" marL="3657600" algn="l">
              <a:spcBef>
                <a:spcPts val="1000"/>
              </a:spcBef>
              <a:spcAft>
                <a:spcPts val="0"/>
              </a:spcAft>
              <a:buSzPts val="1400"/>
              <a:buNone/>
              <a:defRPr sz="1400">
                <a:solidFill>
                  <a:schemeClr val="lt1"/>
                </a:solidFill>
              </a:defRPr>
            </a:lvl8pPr>
            <a:lvl9pPr indent="-228600" lvl="8" marL="4114800" algn="l">
              <a:spcBef>
                <a:spcPts val="1000"/>
              </a:spcBef>
              <a:spcAft>
                <a:spcPts val="1000"/>
              </a:spcAft>
              <a:buSzPts val="1400"/>
              <a:buNone/>
              <a:defRPr sz="1400">
                <a:solidFill>
                  <a:schemeClr val="lt1"/>
                </a:solidFill>
              </a:defRPr>
            </a:lvl9pPr>
          </a:lstStyle>
          <a:p/>
        </p:txBody>
      </p:sp>
      <p:sp>
        <p:nvSpPr>
          <p:cNvPr id="29" name="Google Shape;29;p3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2" name="Shape 32"/>
        <p:cNvGrpSpPr/>
        <p:nvPr/>
      </p:nvGrpSpPr>
      <p:grpSpPr>
        <a:xfrm>
          <a:off x="0" y="0"/>
          <a:ext cx="0" cy="0"/>
          <a:chOff x="0" y="0"/>
          <a:chExt cx="0" cy="0"/>
        </a:xfrm>
      </p:grpSpPr>
      <p:pic>
        <p:nvPicPr>
          <p:cNvPr descr="Celestia-R1---OverlayContentHD.png" id="33" name="Google Shape;33;p39"/>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4" name="Google Shape;34;p39"/>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9"/>
          <p:cNvSpPr txBox="1"/>
          <p:nvPr>
            <p:ph idx="1" type="body"/>
          </p:nvPr>
        </p:nvSpPr>
        <p:spPr>
          <a:xfrm>
            <a:off x="685802" y="2142067"/>
            <a:ext cx="4995334" cy="3649134"/>
          </a:xfrm>
          <a:prstGeom prst="rect">
            <a:avLst/>
          </a:prstGeom>
          <a:noFill/>
          <a:ln>
            <a:noFill/>
          </a:ln>
        </p:spPr>
        <p:txBody>
          <a:bodyPr anchorCtr="0" anchor="ctr"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36" name="Google Shape;36;p39"/>
          <p:cNvSpPr txBox="1"/>
          <p:nvPr>
            <p:ph idx="2" type="body"/>
          </p:nvPr>
        </p:nvSpPr>
        <p:spPr>
          <a:xfrm>
            <a:off x="5821895" y="2142067"/>
            <a:ext cx="4995332" cy="3649133"/>
          </a:xfrm>
          <a:prstGeom prst="rect">
            <a:avLst/>
          </a:prstGeom>
          <a:noFill/>
          <a:ln>
            <a:noFill/>
          </a:ln>
        </p:spPr>
        <p:txBody>
          <a:bodyPr anchorCtr="0" anchor="ctr"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37" name="Google Shape;37;p3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40"/>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600"/>
              <a:buFont typeface="Calibri"/>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0"/>
          <p:cNvSpPr txBox="1"/>
          <p:nvPr>
            <p:ph idx="1" type="body"/>
          </p:nvPr>
        </p:nvSpPr>
        <p:spPr>
          <a:xfrm>
            <a:off x="973670" y="2218267"/>
            <a:ext cx="4709054" cy="576262"/>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SzPts val="2800"/>
              <a:buNone/>
              <a:defRPr b="0" sz="28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1000"/>
              </a:spcAft>
              <a:buSzPts val="1600"/>
              <a:buNone/>
              <a:defRPr b="1" sz="1600"/>
            </a:lvl9pPr>
          </a:lstStyle>
          <a:p/>
        </p:txBody>
      </p:sp>
      <p:sp>
        <p:nvSpPr>
          <p:cNvPr id="43" name="Google Shape;43;p40"/>
          <p:cNvSpPr txBox="1"/>
          <p:nvPr>
            <p:ph idx="2" type="body"/>
          </p:nvPr>
        </p:nvSpPr>
        <p:spPr>
          <a:xfrm>
            <a:off x="685801" y="2870201"/>
            <a:ext cx="4996923" cy="2920998"/>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44" name="Google Shape;44;p40"/>
          <p:cNvSpPr txBox="1"/>
          <p:nvPr>
            <p:ph idx="3" type="body"/>
          </p:nvPr>
        </p:nvSpPr>
        <p:spPr>
          <a:xfrm>
            <a:off x="6096003" y="2226734"/>
            <a:ext cx="47228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SzPts val="2800"/>
              <a:buNone/>
              <a:defRPr b="0" sz="28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1000"/>
              </a:spcAft>
              <a:buSzPts val="1600"/>
              <a:buNone/>
              <a:defRPr b="1" sz="1600"/>
            </a:lvl9pPr>
          </a:lstStyle>
          <a:p/>
        </p:txBody>
      </p:sp>
      <p:sp>
        <p:nvSpPr>
          <p:cNvPr id="45" name="Google Shape;45;p40"/>
          <p:cNvSpPr txBox="1"/>
          <p:nvPr>
            <p:ph idx="4" type="body"/>
          </p:nvPr>
        </p:nvSpPr>
        <p:spPr>
          <a:xfrm>
            <a:off x="5823483" y="2870201"/>
            <a:ext cx="4995334" cy="2920998"/>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46" name="Google Shape;46;p40"/>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0"/>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0"/>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pic>
        <p:nvPicPr>
          <p:cNvPr descr="Celestia-R1---OverlayContentHD.png" id="50" name="Google Shape;50;p4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1" name="Google Shape;51;p41"/>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5" name="Shape 55"/>
        <p:cNvGrpSpPr/>
        <p:nvPr/>
      </p:nvGrpSpPr>
      <p:grpSpPr>
        <a:xfrm>
          <a:off x="0" y="0"/>
          <a:ext cx="0" cy="0"/>
          <a:chOff x="0" y="0"/>
          <a:chExt cx="0" cy="0"/>
        </a:xfrm>
      </p:grpSpPr>
      <p:pic>
        <p:nvPicPr>
          <p:cNvPr descr="Celestia-R1---OverlayContentHD.png" id="56" name="Google Shape;56;p4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7" name="Google Shape;57;p4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0" name="Shape 60"/>
        <p:cNvGrpSpPr/>
        <p:nvPr/>
      </p:nvGrpSpPr>
      <p:grpSpPr>
        <a:xfrm>
          <a:off x="0" y="0"/>
          <a:ext cx="0" cy="0"/>
          <a:chOff x="0" y="0"/>
          <a:chExt cx="0" cy="0"/>
        </a:xfrm>
      </p:grpSpPr>
      <p:pic>
        <p:nvPicPr>
          <p:cNvPr descr="Celestia-R1---OverlayContentHD.png" id="61" name="Google Shape;61;p4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2" name="Google Shape;62;p43"/>
          <p:cNvSpPr txBox="1"/>
          <p:nvPr>
            <p:ph type="title"/>
          </p:nvPr>
        </p:nvSpPr>
        <p:spPr>
          <a:xfrm>
            <a:off x="685800" y="2074333"/>
            <a:ext cx="3680885" cy="1371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400"/>
              <a:buFont typeface="Calibri"/>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3"/>
          <p:cNvSpPr txBox="1"/>
          <p:nvPr>
            <p:ph idx="1" type="body"/>
          </p:nvPr>
        </p:nvSpPr>
        <p:spPr>
          <a:xfrm>
            <a:off x="4648201" y="609601"/>
            <a:ext cx="6169026" cy="5181600"/>
          </a:xfrm>
          <a:prstGeom prst="rect">
            <a:avLst/>
          </a:prstGeom>
          <a:noFill/>
          <a:ln>
            <a:noFill/>
          </a:ln>
        </p:spPr>
        <p:txBody>
          <a:bodyPr anchorCtr="0" anchor="ctr"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64" name="Google Shape;64;p43"/>
          <p:cNvSpPr txBox="1"/>
          <p:nvPr>
            <p:ph idx="2" type="body"/>
          </p:nvPr>
        </p:nvSpPr>
        <p:spPr>
          <a:xfrm>
            <a:off x="685800" y="3445933"/>
            <a:ext cx="3680885" cy="18288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600"/>
              <a:buNone/>
              <a:defRPr sz="16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1000"/>
              </a:spcAft>
              <a:buSzPts val="900"/>
              <a:buNone/>
              <a:defRPr sz="900"/>
            </a:lvl9pPr>
          </a:lstStyle>
          <a:p/>
        </p:txBody>
      </p:sp>
      <p:sp>
        <p:nvSpPr>
          <p:cNvPr id="65" name="Google Shape;65;p4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8" name="Shape 68"/>
        <p:cNvGrpSpPr/>
        <p:nvPr/>
      </p:nvGrpSpPr>
      <p:grpSpPr>
        <a:xfrm>
          <a:off x="0" y="0"/>
          <a:ext cx="0" cy="0"/>
          <a:chOff x="0" y="0"/>
          <a:chExt cx="0" cy="0"/>
        </a:xfrm>
      </p:grpSpPr>
      <p:pic>
        <p:nvPicPr>
          <p:cNvPr descr="Celestia-R1---OverlayContentHD.png" id="69" name="Google Shape;69;p4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0" name="Google Shape;70;p44"/>
          <p:cNvSpPr txBox="1"/>
          <p:nvPr>
            <p:ph type="title"/>
          </p:nvPr>
        </p:nvSpPr>
        <p:spPr>
          <a:xfrm>
            <a:off x="685800" y="1600200"/>
            <a:ext cx="6164653" cy="1371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alibri"/>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4"/>
          <p:cNvSpPr/>
          <p:nvPr>
            <p:ph idx="2" type="pic"/>
          </p:nvPr>
        </p:nvSpPr>
        <p:spPr>
          <a:xfrm>
            <a:off x="7536253" y="914400"/>
            <a:ext cx="3280974" cy="4572000"/>
          </a:xfrm>
          <a:prstGeom prst="roundRect">
            <a:avLst>
              <a:gd fmla="val 42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745"/>
              </a:srgbClr>
            </a:outerShdw>
          </a:effectLst>
        </p:spPr>
      </p:sp>
      <p:sp>
        <p:nvSpPr>
          <p:cNvPr id="72" name="Google Shape;72;p44"/>
          <p:cNvSpPr txBox="1"/>
          <p:nvPr>
            <p:ph idx="1" type="body"/>
          </p:nvPr>
        </p:nvSpPr>
        <p:spPr>
          <a:xfrm>
            <a:off x="685800" y="2971800"/>
            <a:ext cx="6164653" cy="18288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8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1000"/>
              </a:spcAft>
              <a:buSzPts val="900"/>
              <a:buNone/>
              <a:defRPr sz="900"/>
            </a:lvl9pPr>
          </a:lstStyle>
          <a:p/>
        </p:txBody>
      </p:sp>
      <p:sp>
        <p:nvSpPr>
          <p:cNvPr id="73" name="Google Shape;73;p4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76" name="Shape 76"/>
        <p:cNvGrpSpPr/>
        <p:nvPr/>
      </p:nvGrpSpPr>
      <p:grpSpPr>
        <a:xfrm>
          <a:off x="0" y="0"/>
          <a:ext cx="0" cy="0"/>
          <a:chOff x="0" y="0"/>
          <a:chExt cx="0" cy="0"/>
        </a:xfrm>
      </p:grpSpPr>
      <p:pic>
        <p:nvPicPr>
          <p:cNvPr descr="Celestia-R1---OverlayContentHD.png" id="77" name="Google Shape;77;p4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8" name="Google Shape;78;p45"/>
          <p:cNvSpPr txBox="1"/>
          <p:nvPr>
            <p:ph type="title"/>
          </p:nvPr>
        </p:nvSpPr>
        <p:spPr>
          <a:xfrm>
            <a:off x="685800" y="4732865"/>
            <a:ext cx="1013142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400"/>
              <a:buFont typeface="Calibri"/>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5"/>
          <p:cNvSpPr/>
          <p:nvPr>
            <p:ph idx="2" type="pic"/>
          </p:nvPr>
        </p:nvSpPr>
        <p:spPr>
          <a:xfrm>
            <a:off x="1371600" y="932112"/>
            <a:ext cx="8759827" cy="3164976"/>
          </a:xfrm>
          <a:prstGeom prst="roundRect">
            <a:avLst>
              <a:gd fmla="val 43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745"/>
              </a:srgbClr>
            </a:outerShdw>
          </a:effectLst>
        </p:spPr>
      </p:sp>
      <p:sp>
        <p:nvSpPr>
          <p:cNvPr id="80" name="Google Shape;80;p45"/>
          <p:cNvSpPr txBox="1"/>
          <p:nvPr>
            <p:ph idx="1" type="body"/>
          </p:nvPr>
        </p:nvSpPr>
        <p:spPr>
          <a:xfrm>
            <a:off x="685800" y="5299603"/>
            <a:ext cx="10131427"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1000"/>
              </a:spcAft>
              <a:buSzPts val="900"/>
              <a:buNone/>
              <a:defRPr sz="900"/>
            </a:lvl9pPr>
          </a:lstStyle>
          <a:p/>
        </p:txBody>
      </p:sp>
      <p:sp>
        <p:nvSpPr>
          <p:cNvPr id="81" name="Google Shape;81;p4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84" name="Shape 84"/>
        <p:cNvGrpSpPr/>
        <p:nvPr/>
      </p:nvGrpSpPr>
      <p:grpSpPr>
        <a:xfrm>
          <a:off x="0" y="0"/>
          <a:ext cx="0" cy="0"/>
          <a:chOff x="0" y="0"/>
          <a:chExt cx="0" cy="0"/>
        </a:xfrm>
      </p:grpSpPr>
      <p:pic>
        <p:nvPicPr>
          <p:cNvPr descr="Celestia-R1---OverlayContentHD.png" id="85" name="Google Shape;85;p4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6" name="Google Shape;86;p46"/>
          <p:cNvSpPr txBox="1"/>
          <p:nvPr>
            <p:ph type="title"/>
          </p:nvPr>
        </p:nvSpPr>
        <p:spPr>
          <a:xfrm>
            <a:off x="685801" y="609601"/>
            <a:ext cx="10131427" cy="312419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alibri"/>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6"/>
          <p:cNvSpPr txBox="1"/>
          <p:nvPr>
            <p:ph idx="1" type="body"/>
          </p:nvPr>
        </p:nvSpPr>
        <p:spPr>
          <a:xfrm>
            <a:off x="685800" y="4343400"/>
            <a:ext cx="10131428" cy="1447800"/>
          </a:xfrm>
          <a:prstGeom prst="rect">
            <a:avLst/>
          </a:prstGeom>
          <a:noFill/>
          <a:ln>
            <a:noFill/>
          </a:ln>
        </p:spPr>
        <p:txBody>
          <a:bodyPr anchorCtr="0" anchor="ctr" bIns="45700" lIns="91425" spcFirstLastPara="1" rIns="91425" wrap="square" tIns="45700">
            <a:normAutofit/>
          </a:bodyPr>
          <a:lstStyle>
            <a:lvl1pPr indent="-228600" lvl="0" marL="457200" algn="l">
              <a:spcBef>
                <a:spcPts val="0"/>
              </a:spcBef>
              <a:spcAft>
                <a:spcPts val="0"/>
              </a:spcAft>
              <a:buSzPts val="2000"/>
              <a:buNone/>
              <a:defRPr sz="2000">
                <a:solidFill>
                  <a:schemeClr val="lt1"/>
                </a:solidFill>
              </a:defRPr>
            </a:lvl1pPr>
            <a:lvl2pPr indent="-228600" lvl="1" marL="914400" algn="l">
              <a:spcBef>
                <a:spcPts val="1000"/>
              </a:spcBef>
              <a:spcAft>
                <a:spcPts val="0"/>
              </a:spcAft>
              <a:buSzPts val="1800"/>
              <a:buNone/>
              <a:defRPr sz="1800">
                <a:solidFill>
                  <a:schemeClr val="lt1"/>
                </a:solidFill>
              </a:defRPr>
            </a:lvl2pPr>
            <a:lvl3pPr indent="-228600" lvl="2" marL="1371600" algn="l">
              <a:spcBef>
                <a:spcPts val="1000"/>
              </a:spcBef>
              <a:spcAft>
                <a:spcPts val="0"/>
              </a:spcAft>
              <a:buSzPts val="1600"/>
              <a:buNone/>
              <a:defRPr sz="1600">
                <a:solidFill>
                  <a:schemeClr val="lt1"/>
                </a:solidFill>
              </a:defRPr>
            </a:lvl3pPr>
            <a:lvl4pPr indent="-228600" lvl="3" marL="1828800" algn="l">
              <a:spcBef>
                <a:spcPts val="1000"/>
              </a:spcBef>
              <a:spcAft>
                <a:spcPts val="0"/>
              </a:spcAft>
              <a:buSzPts val="1400"/>
              <a:buNone/>
              <a:defRPr sz="1400">
                <a:solidFill>
                  <a:schemeClr val="lt1"/>
                </a:solidFill>
              </a:defRPr>
            </a:lvl4pPr>
            <a:lvl5pPr indent="-228600" lvl="4" marL="2286000" algn="l">
              <a:spcBef>
                <a:spcPts val="1000"/>
              </a:spcBef>
              <a:spcAft>
                <a:spcPts val="0"/>
              </a:spcAft>
              <a:buSzPts val="1400"/>
              <a:buNone/>
              <a:defRPr sz="1400">
                <a:solidFill>
                  <a:schemeClr val="lt1"/>
                </a:solidFill>
              </a:defRPr>
            </a:lvl5pPr>
            <a:lvl6pPr indent="-228600" lvl="5" marL="2743200" algn="l">
              <a:spcBef>
                <a:spcPts val="1000"/>
              </a:spcBef>
              <a:spcAft>
                <a:spcPts val="0"/>
              </a:spcAft>
              <a:buSzPts val="1400"/>
              <a:buNone/>
              <a:defRPr sz="1400">
                <a:solidFill>
                  <a:schemeClr val="lt1"/>
                </a:solidFill>
              </a:defRPr>
            </a:lvl6pPr>
            <a:lvl7pPr indent="-228600" lvl="6" marL="3200400" algn="l">
              <a:spcBef>
                <a:spcPts val="1000"/>
              </a:spcBef>
              <a:spcAft>
                <a:spcPts val="0"/>
              </a:spcAft>
              <a:buSzPts val="1400"/>
              <a:buNone/>
              <a:defRPr sz="1400">
                <a:solidFill>
                  <a:schemeClr val="lt1"/>
                </a:solidFill>
              </a:defRPr>
            </a:lvl7pPr>
            <a:lvl8pPr indent="-228600" lvl="7" marL="3657600" algn="l">
              <a:spcBef>
                <a:spcPts val="1000"/>
              </a:spcBef>
              <a:spcAft>
                <a:spcPts val="0"/>
              </a:spcAft>
              <a:buSzPts val="1400"/>
              <a:buNone/>
              <a:defRPr sz="1400">
                <a:solidFill>
                  <a:schemeClr val="lt1"/>
                </a:solidFill>
              </a:defRPr>
            </a:lvl8pPr>
            <a:lvl9pPr indent="-228600" lvl="8" marL="4114800" algn="l">
              <a:spcBef>
                <a:spcPts val="1000"/>
              </a:spcBef>
              <a:spcAft>
                <a:spcPts val="1000"/>
              </a:spcAft>
              <a:buSzPts val="1400"/>
              <a:buNone/>
              <a:defRPr sz="1400">
                <a:solidFill>
                  <a:schemeClr val="lt1"/>
                </a:solidFill>
              </a:defRPr>
            </a:lvl9pPr>
          </a:lstStyle>
          <a:p/>
        </p:txBody>
      </p:sp>
      <p:sp>
        <p:nvSpPr>
          <p:cNvPr id="88" name="Google Shape;88;p4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4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91" name="Shape 91"/>
        <p:cNvGrpSpPr/>
        <p:nvPr/>
      </p:nvGrpSpPr>
      <p:grpSpPr>
        <a:xfrm>
          <a:off x="0" y="0"/>
          <a:ext cx="0" cy="0"/>
          <a:chOff x="0" y="0"/>
          <a:chExt cx="0" cy="0"/>
        </a:xfrm>
      </p:grpSpPr>
      <p:pic>
        <p:nvPicPr>
          <p:cNvPr descr="Celestia-R1---OverlayContentHD.png" id="92" name="Google Shape;92;p47"/>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93" name="Google Shape;93;p47"/>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Calibri"/>
              <a:buNone/>
            </a:pPr>
            <a:r>
              <a:rPr b="0" lang="es-CL" sz="8000" cap="none">
                <a:solidFill>
                  <a:schemeClr val="lt1"/>
                </a:solidFill>
                <a:latin typeface="Calibri"/>
                <a:ea typeface="Calibri"/>
                <a:cs typeface="Calibri"/>
                <a:sym typeface="Calibri"/>
              </a:rPr>
              <a:t>”</a:t>
            </a:r>
            <a:endParaRPr/>
          </a:p>
        </p:txBody>
      </p:sp>
      <p:sp>
        <p:nvSpPr>
          <p:cNvPr id="94" name="Google Shape;94;p47"/>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Calibri"/>
              <a:buNone/>
            </a:pPr>
            <a:r>
              <a:rPr b="0" lang="es-CL" sz="8000" cap="none">
                <a:solidFill>
                  <a:schemeClr val="lt1"/>
                </a:solidFill>
                <a:latin typeface="Calibri"/>
                <a:ea typeface="Calibri"/>
                <a:cs typeface="Calibri"/>
                <a:sym typeface="Calibri"/>
              </a:rPr>
              <a:t>“</a:t>
            </a:r>
            <a:endParaRPr/>
          </a:p>
        </p:txBody>
      </p:sp>
      <p:sp>
        <p:nvSpPr>
          <p:cNvPr id="95" name="Google Shape;95;p47"/>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alibri"/>
              <a:buNone/>
              <a:defRPr b="0" sz="320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47"/>
          <p:cNvSpPr txBox="1"/>
          <p:nvPr>
            <p:ph idx="1" type="body"/>
          </p:nvPr>
        </p:nvSpPr>
        <p:spPr>
          <a:xfrm>
            <a:off x="1097875" y="3352800"/>
            <a:ext cx="9339184"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0"/>
              </a:spcBef>
              <a:spcAft>
                <a:spcPts val="0"/>
              </a:spcAft>
              <a:buSzPts val="1800"/>
              <a:buFont typeface="Calibri"/>
              <a:buNone/>
              <a:defRPr/>
            </a:lvl1pPr>
            <a:lvl2pPr indent="-228600" lvl="1" marL="914400" algn="l">
              <a:spcBef>
                <a:spcPts val="1000"/>
              </a:spcBef>
              <a:spcAft>
                <a:spcPts val="0"/>
              </a:spcAft>
              <a:buSzPts val="1600"/>
              <a:buFont typeface="Calibri"/>
              <a:buNone/>
              <a:defRPr/>
            </a:lvl2pPr>
            <a:lvl3pPr indent="-228600" lvl="2" marL="1371600" algn="l">
              <a:spcBef>
                <a:spcPts val="1000"/>
              </a:spcBef>
              <a:spcAft>
                <a:spcPts val="0"/>
              </a:spcAft>
              <a:buSzPts val="1400"/>
              <a:buFont typeface="Calibri"/>
              <a:buNone/>
              <a:defRPr/>
            </a:lvl3pPr>
            <a:lvl4pPr indent="-228600" lvl="3" marL="1828800" algn="l">
              <a:spcBef>
                <a:spcPts val="1000"/>
              </a:spcBef>
              <a:spcAft>
                <a:spcPts val="0"/>
              </a:spcAft>
              <a:buSzPts val="1200"/>
              <a:buFont typeface="Calibri"/>
              <a:buNone/>
              <a:defRPr/>
            </a:lvl4pPr>
            <a:lvl5pPr indent="-228600" lvl="4" marL="2286000" algn="l">
              <a:spcBef>
                <a:spcPts val="1000"/>
              </a:spcBef>
              <a:spcAft>
                <a:spcPts val="0"/>
              </a:spcAft>
              <a:buSzPts val="1200"/>
              <a:buFont typeface="Calibri"/>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97" name="Google Shape;97;p47"/>
          <p:cNvSpPr txBox="1"/>
          <p:nvPr>
            <p:ph idx="2" type="body"/>
          </p:nvPr>
        </p:nvSpPr>
        <p:spPr>
          <a:xfrm>
            <a:off x="687465" y="4343400"/>
            <a:ext cx="10152367" cy="1447800"/>
          </a:xfrm>
          <a:prstGeom prst="rect">
            <a:avLst/>
          </a:prstGeom>
          <a:noFill/>
          <a:ln>
            <a:noFill/>
          </a:ln>
        </p:spPr>
        <p:txBody>
          <a:bodyPr anchorCtr="0" anchor="ctr" bIns="45700" lIns="91425" spcFirstLastPara="1" rIns="91425" wrap="square" tIns="45700">
            <a:normAutofit/>
          </a:bodyPr>
          <a:lstStyle>
            <a:lvl1pPr indent="-228600" lvl="0" marL="457200" algn="l">
              <a:spcBef>
                <a:spcPts val="0"/>
              </a:spcBef>
              <a:spcAft>
                <a:spcPts val="0"/>
              </a:spcAft>
              <a:buSzPts val="2000"/>
              <a:buNone/>
              <a:defRPr sz="2000">
                <a:solidFill>
                  <a:schemeClr val="lt1"/>
                </a:solidFill>
              </a:defRPr>
            </a:lvl1pPr>
            <a:lvl2pPr indent="-228600" lvl="1" marL="914400" algn="l">
              <a:spcBef>
                <a:spcPts val="1000"/>
              </a:spcBef>
              <a:spcAft>
                <a:spcPts val="0"/>
              </a:spcAft>
              <a:buSzPts val="1800"/>
              <a:buNone/>
              <a:defRPr sz="1800">
                <a:solidFill>
                  <a:schemeClr val="lt1"/>
                </a:solidFill>
              </a:defRPr>
            </a:lvl2pPr>
            <a:lvl3pPr indent="-228600" lvl="2" marL="1371600" algn="l">
              <a:spcBef>
                <a:spcPts val="1000"/>
              </a:spcBef>
              <a:spcAft>
                <a:spcPts val="0"/>
              </a:spcAft>
              <a:buSzPts val="1600"/>
              <a:buNone/>
              <a:defRPr sz="1600">
                <a:solidFill>
                  <a:schemeClr val="lt1"/>
                </a:solidFill>
              </a:defRPr>
            </a:lvl3pPr>
            <a:lvl4pPr indent="-228600" lvl="3" marL="1828800" algn="l">
              <a:spcBef>
                <a:spcPts val="1000"/>
              </a:spcBef>
              <a:spcAft>
                <a:spcPts val="0"/>
              </a:spcAft>
              <a:buSzPts val="1400"/>
              <a:buNone/>
              <a:defRPr sz="1400">
                <a:solidFill>
                  <a:schemeClr val="lt1"/>
                </a:solidFill>
              </a:defRPr>
            </a:lvl4pPr>
            <a:lvl5pPr indent="-228600" lvl="4" marL="2286000" algn="l">
              <a:spcBef>
                <a:spcPts val="1000"/>
              </a:spcBef>
              <a:spcAft>
                <a:spcPts val="0"/>
              </a:spcAft>
              <a:buSzPts val="1400"/>
              <a:buNone/>
              <a:defRPr sz="1400">
                <a:solidFill>
                  <a:schemeClr val="lt1"/>
                </a:solidFill>
              </a:defRPr>
            </a:lvl5pPr>
            <a:lvl6pPr indent="-228600" lvl="5" marL="2743200" algn="l">
              <a:spcBef>
                <a:spcPts val="1000"/>
              </a:spcBef>
              <a:spcAft>
                <a:spcPts val="0"/>
              </a:spcAft>
              <a:buSzPts val="1400"/>
              <a:buNone/>
              <a:defRPr sz="1400">
                <a:solidFill>
                  <a:schemeClr val="lt1"/>
                </a:solidFill>
              </a:defRPr>
            </a:lvl6pPr>
            <a:lvl7pPr indent="-228600" lvl="6" marL="3200400" algn="l">
              <a:spcBef>
                <a:spcPts val="1000"/>
              </a:spcBef>
              <a:spcAft>
                <a:spcPts val="0"/>
              </a:spcAft>
              <a:buSzPts val="1400"/>
              <a:buNone/>
              <a:defRPr sz="1400">
                <a:solidFill>
                  <a:schemeClr val="lt1"/>
                </a:solidFill>
              </a:defRPr>
            </a:lvl7pPr>
            <a:lvl8pPr indent="-228600" lvl="7" marL="3657600" algn="l">
              <a:spcBef>
                <a:spcPts val="1000"/>
              </a:spcBef>
              <a:spcAft>
                <a:spcPts val="0"/>
              </a:spcAft>
              <a:buSzPts val="1400"/>
              <a:buNone/>
              <a:defRPr sz="1400">
                <a:solidFill>
                  <a:schemeClr val="lt1"/>
                </a:solidFill>
              </a:defRPr>
            </a:lvl8pPr>
            <a:lvl9pPr indent="-228600" lvl="8" marL="4114800" algn="l">
              <a:spcBef>
                <a:spcPts val="1000"/>
              </a:spcBef>
              <a:spcAft>
                <a:spcPts val="1000"/>
              </a:spcAft>
              <a:buSzPts val="1400"/>
              <a:buNone/>
              <a:defRPr sz="1400">
                <a:solidFill>
                  <a:schemeClr val="lt1"/>
                </a:solidFill>
              </a:defRPr>
            </a:lvl9pPr>
          </a:lstStyle>
          <a:p/>
        </p:txBody>
      </p:sp>
      <p:sp>
        <p:nvSpPr>
          <p:cNvPr id="98" name="Google Shape;98;p4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01" name="Shape 101"/>
        <p:cNvGrpSpPr/>
        <p:nvPr/>
      </p:nvGrpSpPr>
      <p:grpSpPr>
        <a:xfrm>
          <a:off x="0" y="0"/>
          <a:ext cx="0" cy="0"/>
          <a:chOff x="0" y="0"/>
          <a:chExt cx="0" cy="0"/>
        </a:xfrm>
      </p:grpSpPr>
      <p:pic>
        <p:nvPicPr>
          <p:cNvPr descr="Celestia-R1---OverlayContentHD.png" id="102" name="Google Shape;102;p4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03" name="Google Shape;103;p48"/>
          <p:cNvSpPr txBox="1"/>
          <p:nvPr>
            <p:ph type="title"/>
          </p:nvPr>
        </p:nvSpPr>
        <p:spPr>
          <a:xfrm>
            <a:off x="685802" y="3308581"/>
            <a:ext cx="10131425"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200"/>
              <a:buFont typeface="Calibri"/>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8"/>
          <p:cNvSpPr txBox="1"/>
          <p:nvPr>
            <p:ph idx="1" type="body"/>
          </p:nvPr>
        </p:nvSpPr>
        <p:spPr>
          <a:xfrm>
            <a:off x="685801" y="4777381"/>
            <a:ext cx="10131426"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2000"/>
              <a:buNone/>
              <a:defRPr sz="2000">
                <a:solidFill>
                  <a:schemeClr val="lt1"/>
                </a:solidFill>
              </a:defRPr>
            </a:lvl1pPr>
            <a:lvl2pPr indent="-228600" lvl="1" marL="914400" algn="l">
              <a:spcBef>
                <a:spcPts val="1000"/>
              </a:spcBef>
              <a:spcAft>
                <a:spcPts val="0"/>
              </a:spcAft>
              <a:buSzPts val="1800"/>
              <a:buNone/>
              <a:defRPr sz="1800">
                <a:solidFill>
                  <a:schemeClr val="lt1"/>
                </a:solidFill>
              </a:defRPr>
            </a:lvl2pPr>
            <a:lvl3pPr indent="-228600" lvl="2" marL="1371600" algn="l">
              <a:spcBef>
                <a:spcPts val="1000"/>
              </a:spcBef>
              <a:spcAft>
                <a:spcPts val="0"/>
              </a:spcAft>
              <a:buSzPts val="1600"/>
              <a:buNone/>
              <a:defRPr sz="1600">
                <a:solidFill>
                  <a:schemeClr val="lt1"/>
                </a:solidFill>
              </a:defRPr>
            </a:lvl3pPr>
            <a:lvl4pPr indent="-228600" lvl="3" marL="1828800" algn="l">
              <a:spcBef>
                <a:spcPts val="1000"/>
              </a:spcBef>
              <a:spcAft>
                <a:spcPts val="0"/>
              </a:spcAft>
              <a:buSzPts val="1400"/>
              <a:buNone/>
              <a:defRPr sz="1400">
                <a:solidFill>
                  <a:schemeClr val="lt1"/>
                </a:solidFill>
              </a:defRPr>
            </a:lvl4pPr>
            <a:lvl5pPr indent="-228600" lvl="4" marL="2286000" algn="l">
              <a:spcBef>
                <a:spcPts val="1000"/>
              </a:spcBef>
              <a:spcAft>
                <a:spcPts val="0"/>
              </a:spcAft>
              <a:buSzPts val="1400"/>
              <a:buNone/>
              <a:defRPr sz="1400">
                <a:solidFill>
                  <a:schemeClr val="lt1"/>
                </a:solidFill>
              </a:defRPr>
            </a:lvl5pPr>
            <a:lvl6pPr indent="-228600" lvl="5" marL="2743200" algn="l">
              <a:spcBef>
                <a:spcPts val="1000"/>
              </a:spcBef>
              <a:spcAft>
                <a:spcPts val="0"/>
              </a:spcAft>
              <a:buSzPts val="1400"/>
              <a:buNone/>
              <a:defRPr sz="1400">
                <a:solidFill>
                  <a:schemeClr val="lt1"/>
                </a:solidFill>
              </a:defRPr>
            </a:lvl6pPr>
            <a:lvl7pPr indent="-228600" lvl="6" marL="3200400" algn="l">
              <a:spcBef>
                <a:spcPts val="1000"/>
              </a:spcBef>
              <a:spcAft>
                <a:spcPts val="0"/>
              </a:spcAft>
              <a:buSzPts val="1400"/>
              <a:buNone/>
              <a:defRPr sz="1400">
                <a:solidFill>
                  <a:schemeClr val="lt1"/>
                </a:solidFill>
              </a:defRPr>
            </a:lvl7pPr>
            <a:lvl8pPr indent="-228600" lvl="7" marL="3657600" algn="l">
              <a:spcBef>
                <a:spcPts val="1000"/>
              </a:spcBef>
              <a:spcAft>
                <a:spcPts val="0"/>
              </a:spcAft>
              <a:buSzPts val="1400"/>
              <a:buNone/>
              <a:defRPr sz="1400">
                <a:solidFill>
                  <a:schemeClr val="lt1"/>
                </a:solidFill>
              </a:defRPr>
            </a:lvl8pPr>
            <a:lvl9pPr indent="-228600" lvl="8" marL="4114800" algn="l">
              <a:spcBef>
                <a:spcPts val="1000"/>
              </a:spcBef>
              <a:spcAft>
                <a:spcPts val="1000"/>
              </a:spcAft>
              <a:buSzPts val="1400"/>
              <a:buNone/>
              <a:defRPr sz="1400">
                <a:solidFill>
                  <a:schemeClr val="lt1"/>
                </a:solidFill>
              </a:defRPr>
            </a:lvl9pPr>
          </a:lstStyle>
          <a:p/>
        </p:txBody>
      </p:sp>
      <p:sp>
        <p:nvSpPr>
          <p:cNvPr id="105" name="Google Shape;105;p4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4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08" name="Shape 108"/>
        <p:cNvGrpSpPr/>
        <p:nvPr/>
      </p:nvGrpSpPr>
      <p:grpSpPr>
        <a:xfrm>
          <a:off x="0" y="0"/>
          <a:ext cx="0" cy="0"/>
          <a:chOff x="0" y="0"/>
          <a:chExt cx="0" cy="0"/>
        </a:xfrm>
      </p:grpSpPr>
      <p:pic>
        <p:nvPicPr>
          <p:cNvPr descr="Celestia-R1---OverlayContentHD.png" id="109" name="Google Shape;109;p49"/>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0" name="Google Shape;110;p49"/>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Calibri"/>
              <a:buNone/>
            </a:pPr>
            <a:r>
              <a:rPr b="0" lang="es-CL" sz="8000" cap="none">
                <a:solidFill>
                  <a:schemeClr val="lt1"/>
                </a:solidFill>
                <a:latin typeface="Calibri"/>
                <a:ea typeface="Calibri"/>
                <a:cs typeface="Calibri"/>
                <a:sym typeface="Calibri"/>
              </a:rPr>
              <a:t>”</a:t>
            </a:r>
            <a:endParaRPr/>
          </a:p>
        </p:txBody>
      </p:sp>
      <p:sp>
        <p:nvSpPr>
          <p:cNvPr id="111" name="Google Shape;111;p49"/>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Calibri"/>
              <a:buNone/>
            </a:pPr>
            <a:r>
              <a:rPr b="0" lang="es-CL" sz="8000" cap="none">
                <a:solidFill>
                  <a:schemeClr val="lt1"/>
                </a:solidFill>
                <a:latin typeface="Calibri"/>
                <a:ea typeface="Calibri"/>
                <a:cs typeface="Calibri"/>
                <a:sym typeface="Calibri"/>
              </a:rPr>
              <a:t>“</a:t>
            </a:r>
            <a:endParaRPr/>
          </a:p>
        </p:txBody>
      </p:sp>
      <p:sp>
        <p:nvSpPr>
          <p:cNvPr id="112" name="Google Shape;112;p49"/>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200"/>
              <a:buFont typeface="Calibri"/>
              <a:buNone/>
              <a:defRPr b="0" sz="320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9"/>
          <p:cNvSpPr txBox="1"/>
          <p:nvPr>
            <p:ph idx="1" type="body"/>
          </p:nvPr>
        </p:nvSpPr>
        <p:spPr>
          <a:xfrm>
            <a:off x="685800" y="3886200"/>
            <a:ext cx="10135436" cy="889000"/>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400"/>
              <a:buNone/>
              <a:defRPr b="0" sz="2400" cap="none">
                <a:solidFill>
                  <a:schemeClr val="lt1"/>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114" name="Google Shape;114;p49"/>
          <p:cNvSpPr txBox="1"/>
          <p:nvPr>
            <p:ph idx="2" type="body"/>
          </p:nvPr>
        </p:nvSpPr>
        <p:spPr>
          <a:xfrm>
            <a:off x="685799" y="4775200"/>
            <a:ext cx="10135436" cy="10160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800">
                <a:solidFill>
                  <a:schemeClr val="lt1"/>
                </a:solidFill>
              </a:defRPr>
            </a:lvl1pPr>
            <a:lvl2pPr indent="-228600" lvl="1" marL="914400" algn="l">
              <a:spcBef>
                <a:spcPts val="1000"/>
              </a:spcBef>
              <a:spcAft>
                <a:spcPts val="0"/>
              </a:spcAft>
              <a:buSzPts val="1800"/>
              <a:buNone/>
              <a:defRPr sz="1800">
                <a:solidFill>
                  <a:schemeClr val="lt1"/>
                </a:solidFill>
              </a:defRPr>
            </a:lvl2pPr>
            <a:lvl3pPr indent="-228600" lvl="2" marL="1371600" algn="l">
              <a:spcBef>
                <a:spcPts val="1000"/>
              </a:spcBef>
              <a:spcAft>
                <a:spcPts val="0"/>
              </a:spcAft>
              <a:buSzPts val="1600"/>
              <a:buNone/>
              <a:defRPr sz="1600">
                <a:solidFill>
                  <a:schemeClr val="lt1"/>
                </a:solidFill>
              </a:defRPr>
            </a:lvl3pPr>
            <a:lvl4pPr indent="-228600" lvl="3" marL="1828800" algn="l">
              <a:spcBef>
                <a:spcPts val="1000"/>
              </a:spcBef>
              <a:spcAft>
                <a:spcPts val="0"/>
              </a:spcAft>
              <a:buSzPts val="1400"/>
              <a:buNone/>
              <a:defRPr sz="1400">
                <a:solidFill>
                  <a:schemeClr val="lt1"/>
                </a:solidFill>
              </a:defRPr>
            </a:lvl4pPr>
            <a:lvl5pPr indent="-228600" lvl="4" marL="2286000" algn="l">
              <a:spcBef>
                <a:spcPts val="1000"/>
              </a:spcBef>
              <a:spcAft>
                <a:spcPts val="0"/>
              </a:spcAft>
              <a:buSzPts val="1400"/>
              <a:buNone/>
              <a:defRPr sz="1400">
                <a:solidFill>
                  <a:schemeClr val="lt1"/>
                </a:solidFill>
              </a:defRPr>
            </a:lvl5pPr>
            <a:lvl6pPr indent="-228600" lvl="5" marL="2743200" algn="l">
              <a:spcBef>
                <a:spcPts val="1000"/>
              </a:spcBef>
              <a:spcAft>
                <a:spcPts val="0"/>
              </a:spcAft>
              <a:buSzPts val="1400"/>
              <a:buNone/>
              <a:defRPr sz="1400">
                <a:solidFill>
                  <a:schemeClr val="lt1"/>
                </a:solidFill>
              </a:defRPr>
            </a:lvl6pPr>
            <a:lvl7pPr indent="-228600" lvl="6" marL="3200400" algn="l">
              <a:spcBef>
                <a:spcPts val="1000"/>
              </a:spcBef>
              <a:spcAft>
                <a:spcPts val="0"/>
              </a:spcAft>
              <a:buSzPts val="1400"/>
              <a:buNone/>
              <a:defRPr sz="1400">
                <a:solidFill>
                  <a:schemeClr val="lt1"/>
                </a:solidFill>
              </a:defRPr>
            </a:lvl7pPr>
            <a:lvl8pPr indent="-228600" lvl="7" marL="3657600" algn="l">
              <a:spcBef>
                <a:spcPts val="1000"/>
              </a:spcBef>
              <a:spcAft>
                <a:spcPts val="0"/>
              </a:spcAft>
              <a:buSzPts val="1400"/>
              <a:buNone/>
              <a:defRPr sz="1400">
                <a:solidFill>
                  <a:schemeClr val="lt1"/>
                </a:solidFill>
              </a:defRPr>
            </a:lvl8pPr>
            <a:lvl9pPr indent="-228600" lvl="8" marL="4114800" algn="l">
              <a:spcBef>
                <a:spcPts val="1000"/>
              </a:spcBef>
              <a:spcAft>
                <a:spcPts val="1000"/>
              </a:spcAft>
              <a:buSzPts val="1400"/>
              <a:buNone/>
              <a:defRPr sz="1400">
                <a:solidFill>
                  <a:schemeClr val="lt1"/>
                </a:solidFill>
              </a:defRPr>
            </a:lvl9pPr>
          </a:lstStyle>
          <a:p/>
        </p:txBody>
      </p:sp>
      <p:sp>
        <p:nvSpPr>
          <p:cNvPr id="115" name="Google Shape;115;p4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4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18" name="Shape 118"/>
        <p:cNvGrpSpPr/>
        <p:nvPr/>
      </p:nvGrpSpPr>
      <p:grpSpPr>
        <a:xfrm>
          <a:off x="0" y="0"/>
          <a:ext cx="0" cy="0"/>
          <a:chOff x="0" y="0"/>
          <a:chExt cx="0" cy="0"/>
        </a:xfrm>
      </p:grpSpPr>
      <p:pic>
        <p:nvPicPr>
          <p:cNvPr descr="Celestia-R1---OverlayContentHD.png" id="119" name="Google Shape;119;p50"/>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0" name="Google Shape;120;p50"/>
          <p:cNvSpPr txBox="1"/>
          <p:nvPr>
            <p:ph type="title"/>
          </p:nvPr>
        </p:nvSpPr>
        <p:spPr>
          <a:xfrm>
            <a:off x="685801" y="609601"/>
            <a:ext cx="10131427" cy="274319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600"/>
              <a:buFont typeface="Calibri"/>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0"/>
          <p:cNvSpPr txBox="1"/>
          <p:nvPr>
            <p:ph idx="1" type="body"/>
          </p:nvPr>
        </p:nvSpPr>
        <p:spPr>
          <a:xfrm>
            <a:off x="685801" y="3505200"/>
            <a:ext cx="10131428"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800"/>
              <a:buNone/>
              <a:defRPr b="0" sz="2800" cap="none">
                <a:solidFill>
                  <a:schemeClr val="lt1"/>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122" name="Google Shape;122;p50"/>
          <p:cNvSpPr txBox="1"/>
          <p:nvPr>
            <p:ph idx="2" type="body"/>
          </p:nvPr>
        </p:nvSpPr>
        <p:spPr>
          <a:xfrm>
            <a:off x="685800" y="4343400"/>
            <a:ext cx="10131428" cy="14478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800">
                <a:solidFill>
                  <a:schemeClr val="lt1"/>
                </a:solidFill>
              </a:defRPr>
            </a:lvl1pPr>
            <a:lvl2pPr indent="-228600" lvl="1" marL="914400" algn="l">
              <a:spcBef>
                <a:spcPts val="1000"/>
              </a:spcBef>
              <a:spcAft>
                <a:spcPts val="0"/>
              </a:spcAft>
              <a:buSzPts val="1800"/>
              <a:buNone/>
              <a:defRPr sz="1800">
                <a:solidFill>
                  <a:schemeClr val="lt1"/>
                </a:solidFill>
              </a:defRPr>
            </a:lvl2pPr>
            <a:lvl3pPr indent="-228600" lvl="2" marL="1371600" algn="l">
              <a:spcBef>
                <a:spcPts val="1000"/>
              </a:spcBef>
              <a:spcAft>
                <a:spcPts val="0"/>
              </a:spcAft>
              <a:buSzPts val="1600"/>
              <a:buNone/>
              <a:defRPr sz="1600">
                <a:solidFill>
                  <a:schemeClr val="lt1"/>
                </a:solidFill>
              </a:defRPr>
            </a:lvl3pPr>
            <a:lvl4pPr indent="-228600" lvl="3" marL="1828800" algn="l">
              <a:spcBef>
                <a:spcPts val="1000"/>
              </a:spcBef>
              <a:spcAft>
                <a:spcPts val="0"/>
              </a:spcAft>
              <a:buSzPts val="1400"/>
              <a:buNone/>
              <a:defRPr sz="1400">
                <a:solidFill>
                  <a:schemeClr val="lt1"/>
                </a:solidFill>
              </a:defRPr>
            </a:lvl4pPr>
            <a:lvl5pPr indent="-228600" lvl="4" marL="2286000" algn="l">
              <a:spcBef>
                <a:spcPts val="1000"/>
              </a:spcBef>
              <a:spcAft>
                <a:spcPts val="0"/>
              </a:spcAft>
              <a:buSzPts val="1400"/>
              <a:buNone/>
              <a:defRPr sz="1400">
                <a:solidFill>
                  <a:schemeClr val="lt1"/>
                </a:solidFill>
              </a:defRPr>
            </a:lvl5pPr>
            <a:lvl6pPr indent="-228600" lvl="5" marL="2743200" algn="l">
              <a:spcBef>
                <a:spcPts val="1000"/>
              </a:spcBef>
              <a:spcAft>
                <a:spcPts val="0"/>
              </a:spcAft>
              <a:buSzPts val="1400"/>
              <a:buNone/>
              <a:defRPr sz="1400">
                <a:solidFill>
                  <a:schemeClr val="lt1"/>
                </a:solidFill>
              </a:defRPr>
            </a:lvl6pPr>
            <a:lvl7pPr indent="-228600" lvl="6" marL="3200400" algn="l">
              <a:spcBef>
                <a:spcPts val="1000"/>
              </a:spcBef>
              <a:spcAft>
                <a:spcPts val="0"/>
              </a:spcAft>
              <a:buSzPts val="1400"/>
              <a:buNone/>
              <a:defRPr sz="1400">
                <a:solidFill>
                  <a:schemeClr val="lt1"/>
                </a:solidFill>
              </a:defRPr>
            </a:lvl7pPr>
            <a:lvl8pPr indent="-228600" lvl="7" marL="3657600" algn="l">
              <a:spcBef>
                <a:spcPts val="1000"/>
              </a:spcBef>
              <a:spcAft>
                <a:spcPts val="0"/>
              </a:spcAft>
              <a:buSzPts val="1400"/>
              <a:buNone/>
              <a:defRPr sz="1400">
                <a:solidFill>
                  <a:schemeClr val="lt1"/>
                </a:solidFill>
              </a:defRPr>
            </a:lvl8pPr>
            <a:lvl9pPr indent="-228600" lvl="8" marL="4114800" algn="l">
              <a:spcBef>
                <a:spcPts val="1000"/>
              </a:spcBef>
              <a:spcAft>
                <a:spcPts val="1000"/>
              </a:spcAft>
              <a:buSzPts val="1400"/>
              <a:buNone/>
              <a:defRPr sz="1400">
                <a:solidFill>
                  <a:schemeClr val="lt1"/>
                </a:solidFill>
              </a:defRPr>
            </a:lvl9pPr>
          </a:lstStyle>
          <a:p/>
        </p:txBody>
      </p:sp>
      <p:sp>
        <p:nvSpPr>
          <p:cNvPr id="123" name="Google Shape;123;p50"/>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0"/>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0"/>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26" name="Shape 126"/>
        <p:cNvGrpSpPr/>
        <p:nvPr/>
      </p:nvGrpSpPr>
      <p:grpSpPr>
        <a:xfrm>
          <a:off x="0" y="0"/>
          <a:ext cx="0" cy="0"/>
          <a:chOff x="0" y="0"/>
          <a:chExt cx="0" cy="0"/>
        </a:xfrm>
      </p:grpSpPr>
      <p:pic>
        <p:nvPicPr>
          <p:cNvPr descr="Celestia-R1---OverlayContentHD.png" id="127" name="Google Shape;127;p5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8" name="Google Shape;128;p51"/>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1"/>
          <p:cNvSpPr txBox="1"/>
          <p:nvPr>
            <p:ph idx="1" type="body"/>
          </p:nvPr>
        </p:nvSpPr>
        <p:spPr>
          <a:xfrm rot="5400000">
            <a:off x="3926947" y="-1099079"/>
            <a:ext cx="3649133" cy="10131425"/>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130" name="Google Shape;130;p5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5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33" name="Shape 133"/>
        <p:cNvGrpSpPr/>
        <p:nvPr/>
      </p:nvGrpSpPr>
      <p:grpSpPr>
        <a:xfrm>
          <a:off x="0" y="0"/>
          <a:ext cx="0" cy="0"/>
          <a:chOff x="0" y="0"/>
          <a:chExt cx="0" cy="0"/>
        </a:xfrm>
      </p:grpSpPr>
      <p:pic>
        <p:nvPicPr>
          <p:cNvPr descr="Celestia-R1---OverlayContentHD.png" id="134" name="Google Shape;134;p5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5" name="Google Shape;135;p52"/>
          <p:cNvSpPr txBox="1"/>
          <p:nvPr>
            <p:ph type="title"/>
          </p:nvPr>
        </p:nvSpPr>
        <p:spPr>
          <a:xfrm rot="5400000">
            <a:off x="7147151" y="2121124"/>
            <a:ext cx="5181601" cy="215855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2"/>
          <p:cNvSpPr txBox="1"/>
          <p:nvPr>
            <p:ph idx="1" type="body"/>
          </p:nvPr>
        </p:nvSpPr>
        <p:spPr>
          <a:xfrm rot="5400000">
            <a:off x="2011058" y="-715658"/>
            <a:ext cx="5181600" cy="7832116"/>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1000"/>
              </a:spcAft>
              <a:buSzPts val="1800"/>
              <a:buChar char="•"/>
              <a:defRPr/>
            </a:lvl9pPr>
          </a:lstStyle>
          <a:p/>
        </p:txBody>
      </p:sp>
      <p:sp>
        <p:nvSpPr>
          <p:cNvPr id="137" name="Google Shape;137;p5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5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lt1"/>
              </a:buClr>
              <a:buSzPts val="1000"/>
              <a:buFont typeface="Calibri"/>
              <a:buNone/>
              <a:defRPr/>
            </a:lvl1pPr>
            <a:lvl2pPr indent="0" lvl="1" marL="0" algn="ctr">
              <a:spcBef>
                <a:spcPts val="0"/>
              </a:spcBef>
              <a:spcAft>
                <a:spcPts val="0"/>
              </a:spcAft>
              <a:buClr>
                <a:schemeClr val="lt1"/>
              </a:buClr>
              <a:buSzPts val="1000"/>
              <a:buFont typeface="Calibri"/>
              <a:buNone/>
              <a:defRPr/>
            </a:lvl2pPr>
            <a:lvl3pPr indent="0" lvl="2" marL="0" algn="ctr">
              <a:spcBef>
                <a:spcPts val="0"/>
              </a:spcBef>
              <a:spcAft>
                <a:spcPts val="0"/>
              </a:spcAft>
              <a:buClr>
                <a:schemeClr val="lt1"/>
              </a:buClr>
              <a:buSzPts val="1000"/>
              <a:buFont typeface="Calibri"/>
              <a:buNone/>
              <a:defRPr/>
            </a:lvl3pPr>
            <a:lvl4pPr indent="0" lvl="3" marL="0" algn="ctr">
              <a:spcBef>
                <a:spcPts val="0"/>
              </a:spcBef>
              <a:spcAft>
                <a:spcPts val="0"/>
              </a:spcAft>
              <a:buClr>
                <a:schemeClr val="lt1"/>
              </a:buClr>
              <a:buSzPts val="1000"/>
              <a:buFont typeface="Calibri"/>
              <a:buNone/>
              <a:defRPr/>
            </a:lvl4pPr>
            <a:lvl5pPr indent="0" lvl="4" marL="0" algn="ctr">
              <a:spcBef>
                <a:spcPts val="0"/>
              </a:spcBef>
              <a:spcAft>
                <a:spcPts val="0"/>
              </a:spcAft>
              <a:buClr>
                <a:schemeClr val="lt1"/>
              </a:buClr>
              <a:buSzPts val="1000"/>
              <a:buFont typeface="Calibri"/>
              <a:buNone/>
              <a:defRPr/>
            </a:lvl5pPr>
            <a:lvl6pPr indent="0" lvl="5" marL="0" algn="ctr">
              <a:spcBef>
                <a:spcPts val="0"/>
              </a:spcBef>
              <a:spcAft>
                <a:spcPts val="0"/>
              </a:spcAft>
              <a:buClr>
                <a:schemeClr val="lt1"/>
              </a:buClr>
              <a:buSzPts val="1000"/>
              <a:buFont typeface="Calibri"/>
              <a:buNone/>
              <a:defRPr/>
            </a:lvl6pPr>
            <a:lvl7pPr indent="0" lvl="6" marL="0" algn="ctr">
              <a:spcBef>
                <a:spcPts val="0"/>
              </a:spcBef>
              <a:spcAft>
                <a:spcPts val="0"/>
              </a:spcAft>
              <a:buClr>
                <a:schemeClr val="lt1"/>
              </a:buClr>
              <a:buSzPts val="1000"/>
              <a:buFont typeface="Calibri"/>
              <a:buNone/>
              <a:defRPr/>
            </a:lvl7pPr>
            <a:lvl8pPr indent="0" lvl="7" marL="0" algn="ctr">
              <a:spcBef>
                <a:spcPts val="0"/>
              </a:spcBef>
              <a:spcAft>
                <a:spcPts val="0"/>
              </a:spcAft>
              <a:buClr>
                <a:schemeClr val="lt1"/>
              </a:buClr>
              <a:buSzPts val="1000"/>
              <a:buFont typeface="Calibri"/>
              <a:buNone/>
              <a:defRPr/>
            </a:lvl8pPr>
            <a:lvl9pPr indent="0" lvl="8" marL="0" algn="ctr">
              <a:spcBef>
                <a:spcPts val="0"/>
              </a:spcBef>
              <a:spcAft>
                <a:spcPts val="0"/>
              </a:spcAft>
              <a:buClr>
                <a:schemeClr val="lt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blipFill>
          <a:blip r:embed="rId2">
            <a:alphaModFix/>
          </a:blip>
          <a:stretch>
            <a:fillRect/>
          </a:stretch>
        </a:blipFill>
      </p:bgPr>
    </p:bg>
    <p:spTree>
      <p:nvGrpSpPr>
        <p:cNvPr id="146" name="Shape 146"/>
        <p:cNvGrpSpPr/>
        <p:nvPr/>
      </p:nvGrpSpPr>
      <p:grpSpPr>
        <a:xfrm>
          <a:off x="0" y="0"/>
          <a:ext cx="0" cy="0"/>
          <a:chOff x="0" y="0"/>
          <a:chExt cx="0" cy="0"/>
        </a:xfrm>
      </p:grpSpPr>
      <p:pic>
        <p:nvPicPr>
          <p:cNvPr descr="Celestia-R1---OverlayTitleHD.png" id="147" name="Google Shape;147;p36"/>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48" name="Google Shape;148;p36"/>
          <p:cNvSpPr txBox="1"/>
          <p:nvPr>
            <p:ph type="ctrTitle"/>
          </p:nvPr>
        </p:nvSpPr>
        <p:spPr>
          <a:xfrm>
            <a:off x="3962399" y="1964267"/>
            <a:ext cx="7197726" cy="2421464"/>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800"/>
              <a:buFont typeface="Calibri"/>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6"/>
          <p:cNvSpPr txBox="1"/>
          <p:nvPr>
            <p:ph idx="1" type="subTitle"/>
          </p:nvPr>
        </p:nvSpPr>
        <p:spPr>
          <a:xfrm>
            <a:off x="3962399" y="4385732"/>
            <a:ext cx="7197726" cy="1405467"/>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SzPts val="1800"/>
              <a:buNone/>
              <a:defRPr sz="1800" cap="none">
                <a:solidFill>
                  <a:schemeClr val="dk1"/>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1000"/>
              </a:spcAft>
              <a:buSzPts val="1200"/>
              <a:buNone/>
              <a:defRPr>
                <a:solidFill>
                  <a:srgbClr val="888888"/>
                </a:solidFill>
              </a:defRPr>
            </a:lvl9pPr>
          </a:lstStyle>
          <a:p/>
        </p:txBody>
      </p:sp>
      <p:sp>
        <p:nvSpPr>
          <p:cNvPr id="150" name="Google Shape;150;p36"/>
          <p:cNvSpPr txBox="1"/>
          <p:nvPr>
            <p:ph idx="10" type="dt"/>
          </p:nvPr>
        </p:nvSpPr>
        <p:spPr>
          <a:xfrm>
            <a:off x="8932558" y="5870575"/>
            <a:ext cx="1600200" cy="3778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6"/>
          <p:cNvSpPr txBox="1"/>
          <p:nvPr>
            <p:ph idx="11" type="ftr"/>
          </p:nvPr>
        </p:nvSpPr>
        <p:spPr>
          <a:xfrm>
            <a:off x="3962399" y="5870575"/>
            <a:ext cx="4893958" cy="3778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6"/>
          <p:cNvSpPr txBox="1"/>
          <p:nvPr>
            <p:ph idx="12" type="sldNum"/>
          </p:nvPr>
        </p:nvSpPr>
        <p:spPr>
          <a:xfrm>
            <a:off x="10608958" y="5870575"/>
            <a:ext cx="551167" cy="377825"/>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dk1"/>
              </a:buClr>
              <a:buSzPts val="1000"/>
              <a:buFont typeface="Calibri"/>
              <a:buNone/>
              <a:defRPr/>
            </a:lvl1pPr>
            <a:lvl2pPr indent="0" lvl="1" marL="0" algn="ctr">
              <a:spcBef>
                <a:spcPts val="0"/>
              </a:spcBef>
              <a:spcAft>
                <a:spcPts val="0"/>
              </a:spcAft>
              <a:buClr>
                <a:schemeClr val="dk1"/>
              </a:buClr>
              <a:buSzPts val="1000"/>
              <a:buFont typeface="Calibri"/>
              <a:buNone/>
              <a:defRPr/>
            </a:lvl2pPr>
            <a:lvl3pPr indent="0" lvl="2" marL="0" algn="ctr">
              <a:spcBef>
                <a:spcPts val="0"/>
              </a:spcBef>
              <a:spcAft>
                <a:spcPts val="0"/>
              </a:spcAft>
              <a:buClr>
                <a:schemeClr val="dk1"/>
              </a:buClr>
              <a:buSzPts val="1000"/>
              <a:buFont typeface="Calibri"/>
              <a:buNone/>
              <a:defRPr/>
            </a:lvl3pPr>
            <a:lvl4pPr indent="0" lvl="3" marL="0" algn="ctr">
              <a:spcBef>
                <a:spcPts val="0"/>
              </a:spcBef>
              <a:spcAft>
                <a:spcPts val="0"/>
              </a:spcAft>
              <a:buClr>
                <a:schemeClr val="dk1"/>
              </a:buClr>
              <a:buSzPts val="1000"/>
              <a:buFont typeface="Calibri"/>
              <a:buNone/>
              <a:defRPr/>
            </a:lvl4pPr>
            <a:lvl5pPr indent="0" lvl="4" marL="0" algn="ctr">
              <a:spcBef>
                <a:spcPts val="0"/>
              </a:spcBef>
              <a:spcAft>
                <a:spcPts val="0"/>
              </a:spcAft>
              <a:buClr>
                <a:schemeClr val="dk1"/>
              </a:buClr>
              <a:buSzPts val="1000"/>
              <a:buFont typeface="Calibri"/>
              <a:buNone/>
              <a:defRPr/>
            </a:lvl5pPr>
            <a:lvl6pPr indent="0" lvl="5" marL="0" algn="ctr">
              <a:spcBef>
                <a:spcPts val="0"/>
              </a:spcBef>
              <a:spcAft>
                <a:spcPts val="0"/>
              </a:spcAft>
              <a:buClr>
                <a:schemeClr val="dk1"/>
              </a:buClr>
              <a:buSzPts val="1000"/>
              <a:buFont typeface="Calibri"/>
              <a:buNone/>
              <a:defRPr/>
            </a:lvl6pPr>
            <a:lvl7pPr indent="0" lvl="6" marL="0" algn="ctr">
              <a:spcBef>
                <a:spcPts val="0"/>
              </a:spcBef>
              <a:spcAft>
                <a:spcPts val="0"/>
              </a:spcAft>
              <a:buClr>
                <a:schemeClr val="dk1"/>
              </a:buClr>
              <a:buSzPts val="1000"/>
              <a:buFont typeface="Calibri"/>
              <a:buNone/>
              <a:defRPr/>
            </a:lvl7pPr>
            <a:lvl8pPr indent="0" lvl="7" marL="0" algn="ctr">
              <a:spcBef>
                <a:spcPts val="0"/>
              </a:spcBef>
              <a:spcAft>
                <a:spcPts val="0"/>
              </a:spcAft>
              <a:buClr>
                <a:schemeClr val="dk1"/>
              </a:buClr>
              <a:buSzPts val="1000"/>
              <a:buFont typeface="Calibri"/>
              <a:buNone/>
              <a:defRPr/>
            </a:lvl8pPr>
            <a:lvl9pPr indent="0" lvl="8" marL="0" algn="ctr">
              <a:spcBef>
                <a:spcPts val="0"/>
              </a:spcBef>
              <a:spcAft>
                <a:spcPts val="0"/>
              </a:spcAft>
              <a:buClr>
                <a:schemeClr val="dk1"/>
              </a:buClr>
              <a:buSzPts val="1000"/>
              <a:buFont typeface="Calibri"/>
              <a:buNone/>
              <a:defRPr/>
            </a:lvl9pPr>
          </a:lstStyle>
          <a:p>
            <a:pPr indent="0" lvl="0" marL="0" rtl="0" algn="ct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8.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lt1"/>
              </a:buClr>
              <a:buSzPts val="3600"/>
              <a:buFont typeface="Calibri"/>
              <a:buNone/>
              <a:defRPr b="0" i="0" sz="36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7" name="Google Shape;7;p33"/>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marR="0" rtl="0" algn="l">
              <a:spcBef>
                <a:spcPts val="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1pPr>
            <a:lvl2pPr indent="-330200" lvl="1" marL="914400" marR="0" rtl="0" algn="l">
              <a:spcBef>
                <a:spcPts val="1000"/>
              </a:spcBef>
              <a:spcAft>
                <a:spcPts val="0"/>
              </a:spcAft>
              <a:buClr>
                <a:schemeClr val="lt1"/>
              </a:buClr>
              <a:buSzPts val="1600"/>
              <a:buFont typeface="Arial"/>
              <a:buChar char="•"/>
              <a:defRPr b="0" i="0" sz="1600" u="none" cap="none" strike="noStrike">
                <a:solidFill>
                  <a:schemeClr val="lt1"/>
                </a:solidFill>
                <a:latin typeface="Calibri"/>
                <a:ea typeface="Calibri"/>
                <a:cs typeface="Calibri"/>
                <a:sym typeface="Calibri"/>
              </a:defRPr>
            </a:lvl2pPr>
            <a:lvl3pPr indent="-317500" lvl="2" marL="1371600" marR="0" rtl="0" algn="l">
              <a:spcBef>
                <a:spcPts val="10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3pPr>
            <a:lvl4pPr indent="-304800" lvl="3" marL="1828800" marR="0" rtl="0" algn="l">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4pPr>
            <a:lvl5pPr indent="-304800" lvl="4" marL="2286000" marR="0" rtl="0" algn="l">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5pPr>
            <a:lvl6pPr indent="-304800" lvl="5" marL="2743200" marR="0" rtl="0" algn="l">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6pPr>
            <a:lvl7pPr indent="-304800" lvl="6" marL="3200400" marR="0" rtl="0" algn="l">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7pPr>
            <a:lvl8pPr indent="-304800" lvl="7" marL="3657600" marR="0" rtl="0" algn="l">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8pPr>
            <a:lvl9pPr indent="-304800" lvl="8" marL="4114800" marR="0" rtl="0" algn="l">
              <a:spcBef>
                <a:spcPts val="1000"/>
              </a:spcBef>
              <a:spcAft>
                <a:spcPts val="100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9pPr>
          </a:lstStyle>
          <a:p/>
        </p:txBody>
      </p:sp>
      <p:sp>
        <p:nvSpPr>
          <p:cNvPr id="8" name="Google Shape;8;p3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 name="Google Shape;9;p3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0" name="Google Shape;10;p3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1pPr>
            <a:lvl2pPr indent="0" lvl="1"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2pPr>
            <a:lvl3pPr indent="0" lvl="2"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3pPr>
            <a:lvl4pPr indent="0" lvl="3"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4pPr>
            <a:lvl5pPr indent="0" lvl="4"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5pPr>
            <a:lvl6pPr indent="0" lvl="5"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6pPr>
            <a:lvl7pPr indent="0" lvl="6"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7pPr>
            <a:lvl8pPr indent="0" lvl="7"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8pPr>
            <a:lvl9pPr indent="0" lvl="8" marL="0" marR="0" rtl="0" algn="ctr">
              <a:spcBef>
                <a:spcPts val="0"/>
              </a:spcBef>
              <a:spcAft>
                <a:spcPts val="0"/>
              </a:spcAft>
              <a:buClr>
                <a:schemeClr val="lt1"/>
              </a:buClr>
              <a:buSzPts val="1000"/>
              <a:buFont typeface="Calibri"/>
              <a:buNone/>
              <a:defRPr b="0" i="0" sz="1000" u="none" cap="none" strike="noStrike">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0" name="Shape 140"/>
        <p:cNvGrpSpPr/>
        <p:nvPr/>
      </p:nvGrpSpPr>
      <p:grpSpPr>
        <a:xfrm>
          <a:off x="0" y="0"/>
          <a:ext cx="0" cy="0"/>
          <a:chOff x="0" y="0"/>
          <a:chExt cx="0" cy="0"/>
        </a:xfrm>
      </p:grpSpPr>
      <p:sp>
        <p:nvSpPr>
          <p:cNvPr id="141" name="Google Shape;141;p35"/>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1"/>
              </a:buClr>
              <a:buSzPts val="3600"/>
              <a:buFont typeface="Calibri"/>
              <a:buNone/>
              <a:defRPr b="0" i="0" sz="36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2" name="Google Shape;142;p35"/>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marR="0" rtl="0" algn="l">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1pPr>
            <a:lvl2pPr indent="-330200" lvl="1" marL="914400" marR="0" rtl="0" algn="l">
              <a:spcBef>
                <a:spcPts val="10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2pPr>
            <a:lvl3pPr indent="-317500" lvl="2" marL="1371600" marR="0" rtl="0" algn="l">
              <a:spcBef>
                <a:spcPts val="10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04800" lvl="3" marL="1828800" marR="0" rtl="0" algn="l">
              <a:spcBef>
                <a:spcPts val="10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4pPr>
            <a:lvl5pPr indent="-304800" lvl="4" marL="2286000" marR="0" rtl="0" algn="l">
              <a:spcBef>
                <a:spcPts val="10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5pPr>
            <a:lvl6pPr indent="-304800" lvl="5" marL="2743200" marR="0" rtl="0" algn="l">
              <a:spcBef>
                <a:spcPts val="10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6pPr>
            <a:lvl7pPr indent="-304800" lvl="6" marL="3200400" marR="0" rtl="0" algn="l">
              <a:spcBef>
                <a:spcPts val="10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7pPr>
            <a:lvl8pPr indent="-304800" lvl="7" marL="3657600" marR="0" rtl="0" algn="l">
              <a:spcBef>
                <a:spcPts val="10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8pPr>
            <a:lvl9pPr indent="-304800" lvl="8" marL="4114800" marR="0" rtl="0" algn="l">
              <a:spcBef>
                <a:spcPts val="1000"/>
              </a:spcBef>
              <a:spcAft>
                <a:spcPts val="100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9pPr>
          </a:lstStyle>
          <a:p/>
        </p:txBody>
      </p:sp>
      <p:sp>
        <p:nvSpPr>
          <p:cNvPr id="143" name="Google Shape;143;p3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4" name="Google Shape;144;p3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5" name="Google Shape;145;p3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1pPr>
            <a:lvl2pPr indent="0" lvl="1"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2pPr>
            <a:lvl3pPr indent="0" lvl="2"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3pPr>
            <a:lvl4pPr indent="0" lvl="3"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4pPr>
            <a:lvl5pPr indent="0" lvl="4"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5pPr>
            <a:lvl6pPr indent="0" lvl="5"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6pPr>
            <a:lvl7pPr indent="0" lvl="6"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7pPr>
            <a:lvl8pPr indent="0" lvl="7"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8pPr>
            <a:lvl9pPr indent="0" lvl="8" marL="0" marR="0" rtl="0" algn="ctr">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7" r:id="rId2"/>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2.png"/><Relationship Id="rId9" Type="http://schemas.openxmlformats.org/officeDocument/2006/relationships/image" Target="../media/image11.png"/><Relationship Id="rId5" Type="http://schemas.openxmlformats.org/officeDocument/2006/relationships/hyperlink" Target="http://next.js" TargetMode="External"/><Relationship Id="rId6" Type="http://schemas.openxmlformats.org/officeDocument/2006/relationships/hyperlink" Target="http://next.js" TargetMode="External"/><Relationship Id="rId7" Type="http://schemas.openxmlformats.org/officeDocument/2006/relationships/hyperlink" Target="http://next.js" TargetMode="External"/><Relationship Id="rId8" Type="http://schemas.openxmlformats.org/officeDocument/2006/relationships/hyperlink" Target="http://node.j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pic>
        <p:nvPicPr>
          <p:cNvPr id="157" name="Google Shape;157;p1"/>
          <p:cNvPicPr preferRelativeResize="0"/>
          <p:nvPr/>
        </p:nvPicPr>
        <p:blipFill rotWithShape="1">
          <a:blip r:embed="rId4">
            <a:alphaModFix/>
          </a:blip>
          <a:srcRect b="0" l="0" r="0" t="0"/>
          <a:stretch/>
        </p:blipFill>
        <p:spPr>
          <a:xfrm>
            <a:off x="0" y="0"/>
            <a:ext cx="12188825" cy="6856214"/>
          </a:xfrm>
          <a:prstGeom prst="rect">
            <a:avLst/>
          </a:prstGeom>
          <a:noFill/>
          <a:ln>
            <a:noFill/>
          </a:ln>
        </p:spPr>
      </p:pic>
      <p:sp>
        <p:nvSpPr>
          <p:cNvPr id="158" name="Google Shape;158;p1"/>
          <p:cNvSpPr txBox="1"/>
          <p:nvPr/>
        </p:nvSpPr>
        <p:spPr>
          <a:xfrm>
            <a:off x="7865806" y="940013"/>
            <a:ext cx="3706800" cy="1608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i="0" lang="es-CL" sz="2300" u="none" cap="none" strike="noStrike">
                <a:solidFill>
                  <a:schemeClr val="lt1"/>
                </a:solidFill>
                <a:latin typeface="Calibri"/>
                <a:ea typeface="Calibri"/>
                <a:cs typeface="Calibri"/>
                <a:sym typeface="Calibri"/>
              </a:rPr>
              <a:t>PROYECTO “CLARIFI”</a:t>
            </a:r>
            <a:endParaRPr b="1" i="0" sz="2300" u="none" cap="none" strike="noStrike">
              <a:solidFill>
                <a:schemeClr val="lt1"/>
              </a:solidFill>
              <a:latin typeface="Calibri"/>
              <a:ea typeface="Calibri"/>
              <a:cs typeface="Calibri"/>
              <a:sym typeface="Calibri"/>
            </a:endParaRPr>
          </a:p>
          <a:p>
            <a:pPr indent="0" lvl="0" marL="0" marR="0" rtl="0" algn="l">
              <a:lnSpc>
                <a:spcPct val="90000"/>
              </a:lnSpc>
              <a:spcBef>
                <a:spcPts val="600"/>
              </a:spcBef>
              <a:spcAft>
                <a:spcPts val="600"/>
              </a:spcAft>
              <a:buNone/>
            </a:pPr>
            <a:r>
              <a:rPr b="1" i="0" lang="es-CL" sz="2300" u="none" cap="none" strike="noStrike">
                <a:solidFill>
                  <a:schemeClr val="lt1"/>
                </a:solidFill>
                <a:latin typeface="Calibri"/>
                <a:ea typeface="Calibri"/>
                <a:cs typeface="Calibri"/>
                <a:sym typeface="Calibri"/>
              </a:rPr>
              <a:t>APLICACIÓN WEB DE </a:t>
            </a:r>
            <a:r>
              <a:rPr b="1" lang="es-CL" sz="2300">
                <a:solidFill>
                  <a:schemeClr val="lt1"/>
                </a:solidFill>
                <a:latin typeface="Calibri"/>
                <a:ea typeface="Calibri"/>
                <a:cs typeface="Calibri"/>
                <a:sym typeface="Calibri"/>
              </a:rPr>
              <a:t>GESTIÓN</a:t>
            </a:r>
            <a:r>
              <a:rPr b="1" i="0" lang="es-CL" sz="2300" u="none" cap="none" strike="noStrike">
                <a:solidFill>
                  <a:schemeClr val="lt1"/>
                </a:solidFill>
                <a:latin typeface="Calibri"/>
                <a:ea typeface="Calibri"/>
                <a:cs typeface="Calibri"/>
                <a:sym typeface="Calibri"/>
              </a:rPr>
              <a:t> FINANCIERA PERSONAL</a:t>
            </a:r>
            <a:endParaRPr/>
          </a:p>
        </p:txBody>
      </p:sp>
      <p:pic>
        <p:nvPicPr>
          <p:cNvPr descr="Texto&#10;&#10;El contenido generado por IA puede ser incorrecto." id="159" name="Google Shape;159;p1"/>
          <p:cNvPicPr preferRelativeResize="0"/>
          <p:nvPr/>
        </p:nvPicPr>
        <p:blipFill rotWithShape="1">
          <a:blip r:embed="rId5">
            <a:alphaModFix/>
          </a:blip>
          <a:srcRect b="5597" l="0" r="1" t="3603"/>
          <a:stretch/>
        </p:blipFill>
        <p:spPr>
          <a:xfrm>
            <a:off x="20" y="975"/>
            <a:ext cx="7552924" cy="6858000"/>
          </a:xfrm>
          <a:prstGeom prst="rect">
            <a:avLst/>
          </a:prstGeom>
          <a:noFill/>
          <a:ln>
            <a:noFill/>
          </a:ln>
        </p:spPr>
      </p:pic>
      <p:sp>
        <p:nvSpPr>
          <p:cNvPr id="160" name="Google Shape;160;p1"/>
          <p:cNvSpPr txBox="1"/>
          <p:nvPr/>
        </p:nvSpPr>
        <p:spPr>
          <a:xfrm>
            <a:off x="7865806" y="2251587"/>
            <a:ext cx="3706762" cy="3972232"/>
          </a:xfrm>
          <a:prstGeom prst="rect">
            <a:avLst/>
          </a:prstGeom>
          <a:noFill/>
          <a:ln>
            <a:noFill/>
          </a:ln>
        </p:spPr>
        <p:txBody>
          <a:bodyPr anchorCtr="0" anchor="ctr" bIns="45700" lIns="91425" spcFirstLastPara="1" rIns="91425" wrap="square" tIns="45700">
            <a:normAutofit/>
          </a:bodyPr>
          <a:lstStyle/>
          <a:p>
            <a:pPr indent="-114300" lvl="0" marL="0" marR="0" rtl="0" algn="l">
              <a:spcBef>
                <a:spcPts val="0"/>
              </a:spcBef>
              <a:spcAft>
                <a:spcPts val="0"/>
              </a:spcAft>
              <a:buClr>
                <a:schemeClr val="lt1"/>
              </a:buClr>
              <a:buSzPts val="1800"/>
              <a:buFont typeface="Arial"/>
              <a:buChar char="•"/>
            </a:pPr>
            <a:r>
              <a:rPr b="1" i="0" lang="es-CL" sz="1800" u="none" cap="none" strike="noStrike">
                <a:solidFill>
                  <a:schemeClr val="lt1"/>
                </a:solidFill>
                <a:latin typeface="Calibri"/>
                <a:ea typeface="Calibri"/>
                <a:cs typeface="Calibri"/>
                <a:sym typeface="Calibri"/>
              </a:rPr>
              <a:t>Integrantes: Gustavo Hermosilla - Joaquin Toro</a:t>
            </a:r>
            <a:endParaRPr/>
          </a:p>
          <a:p>
            <a:pPr indent="0" lvl="0" marL="0" marR="0" rtl="0" algn="l">
              <a:spcBef>
                <a:spcPts val="1000"/>
              </a:spcBef>
              <a:spcAft>
                <a:spcPts val="0"/>
              </a:spcAft>
              <a:buClr>
                <a:schemeClr val="lt1"/>
              </a:buClr>
              <a:buSzPts val="1800"/>
              <a:buFont typeface="Arial"/>
              <a:buNone/>
            </a:pPr>
            <a:r>
              <a:t/>
            </a:r>
            <a:endParaRPr b="1" i="0" sz="1800" u="none" cap="none" strike="noStrike">
              <a:solidFill>
                <a:schemeClr val="lt1"/>
              </a:solidFill>
              <a:latin typeface="Calibri"/>
              <a:ea typeface="Calibri"/>
              <a:cs typeface="Calibri"/>
              <a:sym typeface="Calibri"/>
            </a:endParaRPr>
          </a:p>
          <a:p>
            <a:pPr indent="-114300" lvl="0" marL="0" marR="0" rtl="0" algn="l">
              <a:spcBef>
                <a:spcPts val="1000"/>
              </a:spcBef>
              <a:spcAft>
                <a:spcPts val="1000"/>
              </a:spcAft>
              <a:buClr>
                <a:schemeClr val="lt1"/>
              </a:buClr>
              <a:buSzPts val="1800"/>
              <a:buFont typeface="Arial"/>
              <a:buChar char="•"/>
            </a:pPr>
            <a:r>
              <a:rPr b="1" i="0" lang="es-CL" sz="1800" u="none" cap="none" strike="noStrike">
                <a:solidFill>
                  <a:schemeClr val="lt1"/>
                </a:solidFill>
                <a:latin typeface="Calibri"/>
                <a:ea typeface="Calibri"/>
                <a:cs typeface="Calibri"/>
                <a:sym typeface="Calibri"/>
              </a:rPr>
              <a:t>Docente: Daniel Montero</a:t>
            </a:r>
            <a:endParaRPr/>
          </a:p>
        </p:txBody>
      </p:sp>
      <p:sp>
        <p:nvSpPr>
          <p:cNvPr id="161" name="Google Shape;161;p1"/>
          <p:cNvSpPr txBox="1"/>
          <p:nvPr/>
        </p:nvSpPr>
        <p:spPr>
          <a:xfrm>
            <a:off x="8011815" y="4385731"/>
            <a:ext cx="3254990" cy="2421464"/>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600"/>
              </a:spcAft>
              <a:buNone/>
            </a:pPr>
            <a:r>
              <a:t/>
            </a:r>
            <a:endParaRPr b="1" i="0" sz="2600" u="none" cap="none" strike="noStrike">
              <a:solidFill>
                <a:schemeClr val="lt1"/>
              </a:solidFill>
              <a:latin typeface="Calibri"/>
              <a:ea typeface="Calibri"/>
              <a:cs typeface="Calibri"/>
              <a:sym typeface="Calibri"/>
            </a:endParaRPr>
          </a:p>
        </p:txBody>
      </p:sp>
      <p:pic>
        <p:nvPicPr>
          <p:cNvPr descr="EscuelaIT Duoc UC - Escuela de Informática y Telecomunicaciones Duoc UC - Duoc  UC | LinkedIn" id="162" name="Google Shape;162;p1"/>
          <p:cNvPicPr preferRelativeResize="0"/>
          <p:nvPr/>
        </p:nvPicPr>
        <p:blipFill rotWithShape="1">
          <a:blip r:embed="rId6">
            <a:alphaModFix/>
          </a:blip>
          <a:srcRect b="0" l="0" r="0" t="0"/>
          <a:stretch/>
        </p:blipFill>
        <p:spPr>
          <a:xfrm>
            <a:off x="9050594" y="0"/>
            <a:ext cx="3141406" cy="785352"/>
          </a:xfrm>
          <a:prstGeom prst="rect">
            <a:avLst/>
          </a:prstGeom>
          <a:noFill/>
          <a:ln>
            <a:noFill/>
          </a:ln>
        </p:spPr>
      </p:pic>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pic>
        <p:nvPicPr>
          <p:cNvPr id="167" name="Google Shape;167;p2"/>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68" name="Google Shape;168;p2"/>
          <p:cNvSpPr/>
          <p:nvPr/>
        </p:nvSpPr>
        <p:spPr>
          <a:xfrm>
            <a:off x="0" y="0"/>
            <a:ext cx="12192000" cy="6858000"/>
          </a:xfrm>
          <a:prstGeom prst="rect">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p2"/>
          <p:cNvSpPr/>
          <p:nvPr/>
        </p:nvSpPr>
        <p:spPr>
          <a:xfrm>
            <a:off x="0" y="0"/>
            <a:ext cx="12192000" cy="6858000"/>
          </a:xfrm>
          <a:prstGeom prst="rect">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70" name="Google Shape;170;p2"/>
          <p:cNvPicPr preferRelativeResize="0"/>
          <p:nvPr/>
        </p:nvPicPr>
        <p:blipFill rotWithShape="1">
          <a:blip r:embed="rId5">
            <a:alphaModFix/>
          </a:blip>
          <a:srcRect b="0" l="0" r="0" t="0"/>
          <a:stretch/>
        </p:blipFill>
        <p:spPr>
          <a:xfrm>
            <a:off x="0" y="0"/>
            <a:ext cx="12188825" cy="6856214"/>
          </a:xfrm>
          <a:prstGeom prst="rect">
            <a:avLst/>
          </a:prstGeom>
          <a:noFill/>
          <a:ln>
            <a:noFill/>
          </a:ln>
        </p:spPr>
      </p:pic>
      <p:sp>
        <p:nvSpPr>
          <p:cNvPr id="171" name="Google Shape;171;p2"/>
          <p:cNvSpPr txBox="1"/>
          <p:nvPr/>
        </p:nvSpPr>
        <p:spPr>
          <a:xfrm>
            <a:off x="718457" y="531278"/>
            <a:ext cx="3211517" cy="5292579"/>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600"/>
              </a:spcAft>
              <a:buNone/>
            </a:pPr>
            <a:r>
              <a:rPr b="0" i="0" lang="es-CL" sz="3600" u="none" cap="none" strike="noStrike">
                <a:solidFill>
                  <a:srgbClr val="FFFFFF"/>
                </a:solidFill>
                <a:latin typeface="Calibri"/>
                <a:ea typeface="Calibri"/>
                <a:cs typeface="Calibri"/>
                <a:sym typeface="Calibri"/>
              </a:rPr>
              <a:t>INTEGRANTES DEL PROYECTO</a:t>
            </a:r>
            <a:endParaRPr/>
          </a:p>
        </p:txBody>
      </p:sp>
      <p:sp>
        <p:nvSpPr>
          <p:cNvPr id="172" name="Google Shape;172;p2"/>
          <p:cNvSpPr/>
          <p:nvPr/>
        </p:nvSpPr>
        <p:spPr>
          <a:xfrm>
            <a:off x="4422108" y="0"/>
            <a:ext cx="7769892" cy="6858000"/>
          </a:xfrm>
          <a:custGeom>
            <a:rect b="b" l="l" r="r" t="t"/>
            <a:pathLst>
              <a:path extrusionOk="0" h="6837536" w="7769892">
                <a:moveTo>
                  <a:pt x="1779516" y="0"/>
                </a:moveTo>
                <a:lnTo>
                  <a:pt x="6454848" y="0"/>
                </a:lnTo>
                <a:lnTo>
                  <a:pt x="6511730" y="37905"/>
                </a:lnTo>
                <a:cubicBezTo>
                  <a:pt x="7036410" y="413592"/>
                  <a:pt x="7468976" y="909648"/>
                  <a:pt x="7769892" y="1486041"/>
                </a:cubicBezTo>
                <a:cubicBezTo>
                  <a:pt x="7769892" y="1486041"/>
                  <a:pt x="7769892" y="1486041"/>
                  <a:pt x="7769892" y="5281056"/>
                </a:cubicBezTo>
                <a:cubicBezTo>
                  <a:pt x="7437646" y="5916473"/>
                  <a:pt x="6953850" y="6452788"/>
                  <a:pt x="6353475" y="6837536"/>
                </a:cubicBezTo>
                <a:cubicBezTo>
                  <a:pt x="6353475" y="6837536"/>
                  <a:pt x="6353475" y="6837536"/>
                  <a:pt x="1882727" y="6837536"/>
                </a:cubicBezTo>
                <a:cubicBezTo>
                  <a:pt x="751925" y="6103017"/>
                  <a:pt x="0" y="4832183"/>
                  <a:pt x="0" y="3386463"/>
                </a:cubicBezTo>
                <a:cubicBezTo>
                  <a:pt x="0" y="2036566"/>
                  <a:pt x="651406" y="838748"/>
                  <a:pt x="1655292" y="88307"/>
                </a:cubicBezTo>
                <a:close/>
              </a:path>
            </a:pathLst>
          </a:custGeom>
          <a:solidFill>
            <a:schemeClr val="lt1"/>
          </a:solidFill>
          <a:ln>
            <a:noFill/>
          </a:ln>
          <a:effectLst>
            <a:outerShdw blurRad="254000" rotWithShape="0" algn="tl">
              <a:srgbClr val="000000">
                <a:alpha val="42745"/>
              </a:srgbClr>
            </a:outerShdw>
          </a:effectLst>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grpSp>
        <p:nvGrpSpPr>
          <p:cNvPr id="173" name="Google Shape;173;p2"/>
          <p:cNvGrpSpPr/>
          <p:nvPr/>
        </p:nvGrpSpPr>
        <p:grpSpPr>
          <a:xfrm>
            <a:off x="4889634" y="1460901"/>
            <a:ext cx="7161195" cy="3734603"/>
            <a:chOff x="0" y="0"/>
            <a:chExt cx="7633553" cy="2855102"/>
          </a:xfrm>
        </p:grpSpPr>
        <p:sp>
          <p:nvSpPr>
            <p:cNvPr id="174" name="Google Shape;174;p2"/>
            <p:cNvSpPr/>
            <p:nvPr/>
          </p:nvSpPr>
          <p:spPr>
            <a:xfrm>
              <a:off x="0" y="0"/>
              <a:ext cx="7633500" cy="1359600"/>
            </a:xfrm>
            <a:prstGeom prst="roundRect">
              <a:avLst>
                <a:gd fmla="val 10000" name="adj"/>
              </a:avLst>
            </a:prstGeom>
            <a:gradFill>
              <a:gsLst>
                <a:gs pos="0">
                  <a:srgbClr val="6D98AB"/>
                </a:gs>
                <a:gs pos="100000">
                  <a:srgbClr val="41697A"/>
                </a:gs>
              </a:gsLst>
              <a:lin ang="5400012" scaled="0"/>
            </a:gradFill>
            <a:ln>
              <a:noFill/>
            </a:ln>
            <a:effectLst>
              <a:outerShdw blurRad="63500" rotWithShape="0" dir="5400000" dist="38100">
                <a:srgbClr val="000000">
                  <a:alpha val="6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5" name="Google Shape;175;p2"/>
            <p:cNvSpPr txBox="1"/>
            <p:nvPr/>
          </p:nvSpPr>
          <p:spPr>
            <a:xfrm>
              <a:off x="1662653" y="0"/>
              <a:ext cx="5970900" cy="1359600"/>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None/>
              </a:pPr>
              <a:r>
                <a:rPr b="1" i="0" lang="es-CL" sz="1400" u="none" cap="none" strike="noStrike">
                  <a:solidFill>
                    <a:schemeClr val="dk1"/>
                  </a:solidFill>
                  <a:latin typeface="Century Gothic"/>
                  <a:ea typeface="Century Gothic"/>
                  <a:cs typeface="Century Gothic"/>
                  <a:sym typeface="Century Gothic"/>
                </a:rPr>
                <a:t>Gustavo Adolfo Hermosilla Gonzále</a:t>
              </a:r>
              <a:r>
                <a:rPr b="1" lang="es-CL">
                  <a:solidFill>
                    <a:schemeClr val="dk1"/>
                  </a:solidFill>
                  <a:latin typeface="Century Gothic"/>
                  <a:ea typeface="Century Gothic"/>
                  <a:cs typeface="Century Gothic"/>
                  <a:sym typeface="Century Gothic"/>
                </a:rPr>
                <a:t>z</a:t>
              </a:r>
              <a:endParaRPr b="0" i="0" sz="1400" u="none" cap="none" strike="noStrike">
                <a:solidFill>
                  <a:schemeClr val="dk1"/>
                </a:solidFill>
                <a:latin typeface="Century Gothic"/>
                <a:ea typeface="Century Gothic"/>
                <a:cs typeface="Century Gothic"/>
                <a:sym typeface="Century Gothic"/>
              </a:endParaRPr>
            </a:p>
            <a:p>
              <a:pPr indent="0" lvl="0" marL="0" marR="0" rtl="0" algn="l">
                <a:lnSpc>
                  <a:spcPct val="90000"/>
                </a:lnSpc>
                <a:spcBef>
                  <a:spcPts val="341"/>
                </a:spcBef>
                <a:spcAft>
                  <a:spcPts val="0"/>
                </a:spcAft>
                <a:buNone/>
              </a:pPr>
              <a:r>
                <a:rPr b="0" i="0" lang="es-CL" sz="1400" u="none" cap="none" strike="noStrike">
                  <a:solidFill>
                    <a:schemeClr val="lt1"/>
                  </a:solidFill>
                  <a:latin typeface="Century Gothic"/>
                  <a:ea typeface="Century Gothic"/>
                  <a:cs typeface="Century Gothic"/>
                  <a:sym typeface="Century Gothic"/>
                </a:rPr>
                <a:t>Desarrollador Backend y Gestor de Base de Datos</a:t>
              </a:r>
              <a:endParaRPr b="0" i="0" sz="1400" u="none" cap="none" strike="noStrike">
                <a:solidFill>
                  <a:schemeClr val="lt1"/>
                </a:solidFill>
                <a:latin typeface="Century Gothic"/>
                <a:ea typeface="Century Gothic"/>
                <a:cs typeface="Century Gothic"/>
                <a:sym typeface="Century Gothic"/>
              </a:endParaRPr>
            </a:p>
            <a:p>
              <a:pPr indent="0" lvl="0" marL="0" marR="0" rtl="0" algn="l">
                <a:lnSpc>
                  <a:spcPct val="90000"/>
                </a:lnSpc>
                <a:spcBef>
                  <a:spcPts val="341"/>
                </a:spcBef>
                <a:spcAft>
                  <a:spcPts val="0"/>
                </a:spcAft>
                <a:buNone/>
              </a:pPr>
              <a:r>
                <a:rPr b="0" i="0" lang="es-CL" sz="1400" u="none" cap="none" strike="noStrike">
                  <a:solidFill>
                    <a:schemeClr val="lt1"/>
                  </a:solidFill>
                  <a:latin typeface="Century Gothic"/>
                  <a:ea typeface="Century Gothic"/>
                  <a:cs typeface="Century Gothic"/>
                  <a:sym typeface="Century Gothic"/>
                </a:rPr>
                <a:t>• Diseño y gestión de la base de datos</a:t>
              </a:r>
              <a:br>
                <a:rPr b="0" i="0" lang="es-CL" sz="1400" u="none" cap="none" strike="noStrike">
                  <a:solidFill>
                    <a:schemeClr val="lt1"/>
                  </a:solidFill>
                  <a:latin typeface="Century Gothic"/>
                  <a:ea typeface="Century Gothic"/>
                  <a:cs typeface="Century Gothic"/>
                  <a:sym typeface="Century Gothic"/>
                </a:rPr>
              </a:br>
              <a:r>
                <a:rPr b="0" i="0" lang="es-CL" sz="1400" u="none" cap="none" strike="noStrike">
                  <a:solidFill>
                    <a:schemeClr val="lt1"/>
                  </a:solidFill>
                  <a:latin typeface="Century Gothic"/>
                  <a:ea typeface="Century Gothic"/>
                  <a:cs typeface="Century Gothic"/>
                  <a:sym typeface="Century Gothic"/>
                </a:rPr>
                <a:t>• Desarrollo del backend y API</a:t>
              </a:r>
              <a:br>
                <a:rPr b="0" i="0" lang="es-CL" sz="1400" u="none" cap="none" strike="noStrike">
                  <a:solidFill>
                    <a:schemeClr val="lt1"/>
                  </a:solidFill>
                  <a:latin typeface="Century Gothic"/>
                  <a:ea typeface="Century Gothic"/>
                  <a:cs typeface="Century Gothic"/>
                  <a:sym typeface="Century Gothic"/>
                </a:rPr>
              </a:br>
              <a:r>
                <a:rPr b="0" i="0" lang="es-CL" sz="1400" u="none" cap="none" strike="noStrike">
                  <a:solidFill>
                    <a:schemeClr val="lt1"/>
                  </a:solidFill>
                  <a:latin typeface="Century Gothic"/>
                  <a:ea typeface="Century Gothic"/>
                  <a:cs typeface="Century Gothic"/>
                  <a:sym typeface="Century Gothic"/>
                </a:rPr>
                <a:t>• Implementación del sistema de autenticación</a:t>
              </a:r>
              <a:br>
                <a:rPr b="0" i="0" lang="es-CL" sz="1400" u="none" cap="none" strike="noStrike">
                  <a:solidFill>
                    <a:schemeClr val="lt1"/>
                  </a:solidFill>
                  <a:latin typeface="Century Gothic"/>
                  <a:ea typeface="Century Gothic"/>
                  <a:cs typeface="Century Gothic"/>
                  <a:sym typeface="Century Gothic"/>
                </a:rPr>
              </a:br>
              <a:r>
                <a:rPr b="0" i="0" lang="es-CL" sz="1400" u="none" cap="none" strike="noStrike">
                  <a:solidFill>
                    <a:schemeClr val="lt1"/>
                  </a:solidFill>
                  <a:latin typeface="Century Gothic"/>
                  <a:ea typeface="Century Gothic"/>
                  <a:cs typeface="Century Gothic"/>
                  <a:sym typeface="Century Gothic"/>
                </a:rPr>
                <a:t>• Integración de tecnologías PostgreSQL</a:t>
              </a:r>
              <a:endParaRPr b="0" i="0" sz="1400" u="none" cap="none" strike="noStrike">
                <a:solidFill>
                  <a:schemeClr val="lt1"/>
                </a:solidFill>
                <a:latin typeface="Century Gothic"/>
                <a:ea typeface="Century Gothic"/>
                <a:cs typeface="Century Gothic"/>
                <a:sym typeface="Century Gothic"/>
              </a:endParaRPr>
            </a:p>
          </p:txBody>
        </p:sp>
        <p:sp>
          <p:nvSpPr>
            <p:cNvPr id="176" name="Google Shape;176;p2"/>
            <p:cNvSpPr/>
            <p:nvPr/>
          </p:nvSpPr>
          <p:spPr>
            <a:xfrm>
              <a:off x="135954" y="135954"/>
              <a:ext cx="1526700" cy="1087500"/>
            </a:xfrm>
            <a:prstGeom prst="roundRect">
              <a:avLst>
                <a:gd fmla="val 10000" name="adj"/>
              </a:avLst>
            </a:prstGeom>
            <a:solidFill>
              <a:srgbClr val="C1CDD4"/>
            </a:solidFill>
            <a:ln>
              <a:noFill/>
            </a:ln>
            <a:effectLst>
              <a:outerShdw blurRad="63500" rotWithShape="0" dir="5400000" dist="38100">
                <a:srgbClr val="000000">
                  <a:alpha val="6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7" name="Google Shape;177;p2"/>
            <p:cNvSpPr/>
            <p:nvPr/>
          </p:nvSpPr>
          <p:spPr>
            <a:xfrm>
              <a:off x="0" y="1495502"/>
              <a:ext cx="7633500" cy="1359600"/>
            </a:xfrm>
            <a:prstGeom prst="roundRect">
              <a:avLst>
                <a:gd fmla="val 10000" name="adj"/>
              </a:avLst>
            </a:prstGeom>
            <a:gradFill>
              <a:gsLst>
                <a:gs pos="0">
                  <a:srgbClr val="6D98AB"/>
                </a:gs>
                <a:gs pos="100000">
                  <a:srgbClr val="41697A"/>
                </a:gs>
              </a:gsLst>
              <a:lin ang="5400012" scaled="0"/>
            </a:gradFill>
            <a:ln>
              <a:noFill/>
            </a:ln>
            <a:effectLst>
              <a:outerShdw blurRad="63500" rotWithShape="0" dir="5400000" dist="38100">
                <a:srgbClr val="000000">
                  <a:alpha val="6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8" name="Google Shape;178;p2"/>
            <p:cNvSpPr txBox="1"/>
            <p:nvPr/>
          </p:nvSpPr>
          <p:spPr>
            <a:xfrm>
              <a:off x="1662653" y="1495502"/>
              <a:ext cx="5970900" cy="1359600"/>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None/>
              </a:pPr>
              <a:r>
                <a:rPr b="1" i="0" lang="es-CL" sz="1400" u="none" cap="none" strike="noStrike">
                  <a:solidFill>
                    <a:schemeClr val="dk1"/>
                  </a:solidFill>
                  <a:latin typeface="Century Gothic"/>
                  <a:ea typeface="Century Gothic"/>
                  <a:cs typeface="Century Gothic"/>
                  <a:sym typeface="Century Gothic"/>
                </a:rPr>
                <a:t>Joaquín Ignacio Toro Hermosilla</a:t>
              </a:r>
              <a:endParaRPr b="0" i="0" sz="1400" u="none" cap="none" strike="noStrike">
                <a:solidFill>
                  <a:schemeClr val="dk1"/>
                </a:solidFill>
                <a:latin typeface="Century Gothic"/>
                <a:ea typeface="Century Gothic"/>
                <a:cs typeface="Century Gothic"/>
                <a:sym typeface="Century Gothic"/>
              </a:endParaRPr>
            </a:p>
            <a:p>
              <a:pPr indent="0" lvl="0" marL="0" marR="0" rtl="0" algn="l">
                <a:lnSpc>
                  <a:spcPct val="90000"/>
                </a:lnSpc>
                <a:spcBef>
                  <a:spcPts val="341"/>
                </a:spcBef>
                <a:spcAft>
                  <a:spcPts val="0"/>
                </a:spcAft>
                <a:buNone/>
              </a:pPr>
              <a:r>
                <a:rPr b="0" i="0" lang="es-CL" sz="1400" u="none" cap="none" strike="noStrike">
                  <a:solidFill>
                    <a:schemeClr val="lt1"/>
                  </a:solidFill>
                  <a:latin typeface="Century Gothic"/>
                  <a:ea typeface="Century Gothic"/>
                  <a:cs typeface="Century Gothic"/>
                  <a:sym typeface="Century Gothic"/>
                </a:rPr>
                <a:t>Desarrollador Frontend y Diseñador de UI/UX</a:t>
              </a:r>
              <a:endParaRPr b="0" i="0" sz="1400" u="none" cap="none" strike="noStrike">
                <a:solidFill>
                  <a:schemeClr val="lt1"/>
                </a:solidFill>
                <a:latin typeface="Century Gothic"/>
                <a:ea typeface="Century Gothic"/>
                <a:cs typeface="Century Gothic"/>
                <a:sym typeface="Century Gothic"/>
              </a:endParaRPr>
            </a:p>
            <a:p>
              <a:pPr indent="0" lvl="0" marL="0" marR="0" rtl="0" algn="l">
                <a:lnSpc>
                  <a:spcPct val="90000"/>
                </a:lnSpc>
                <a:spcBef>
                  <a:spcPts val="341"/>
                </a:spcBef>
                <a:spcAft>
                  <a:spcPts val="0"/>
                </a:spcAft>
                <a:buNone/>
              </a:pPr>
              <a:r>
                <a:rPr b="0" i="0" lang="es-CL" sz="1400" u="none" cap="none" strike="noStrike">
                  <a:solidFill>
                    <a:schemeClr val="lt1"/>
                  </a:solidFill>
                  <a:latin typeface="Century Gothic"/>
                  <a:ea typeface="Century Gothic"/>
                  <a:cs typeface="Century Gothic"/>
                  <a:sym typeface="Century Gothic"/>
                </a:rPr>
                <a:t>• Desarrollo de la interfaz</a:t>
              </a:r>
              <a:br>
                <a:rPr b="0" i="0" lang="es-CL" sz="1400" u="none" cap="none" strike="noStrike">
                  <a:solidFill>
                    <a:schemeClr val="lt1"/>
                  </a:solidFill>
                  <a:latin typeface="Century Gothic"/>
                  <a:ea typeface="Century Gothic"/>
                  <a:cs typeface="Century Gothic"/>
                  <a:sym typeface="Century Gothic"/>
                </a:rPr>
              </a:br>
              <a:r>
                <a:rPr b="0" i="0" lang="es-CL" sz="1400" u="none" cap="none" strike="noStrike">
                  <a:solidFill>
                    <a:schemeClr val="lt1"/>
                  </a:solidFill>
                  <a:latin typeface="Century Gothic"/>
                  <a:ea typeface="Century Gothic"/>
                  <a:cs typeface="Century Gothic"/>
                  <a:sym typeface="Century Gothic"/>
                </a:rPr>
                <a:t>• Diseño de la experiencia de usuario</a:t>
              </a:r>
              <a:br>
                <a:rPr b="0" i="0" lang="es-CL" sz="1400" u="none" cap="none" strike="noStrike">
                  <a:solidFill>
                    <a:schemeClr val="lt1"/>
                  </a:solidFill>
                  <a:latin typeface="Century Gothic"/>
                  <a:ea typeface="Century Gothic"/>
                  <a:cs typeface="Century Gothic"/>
                  <a:sym typeface="Century Gothic"/>
                </a:rPr>
              </a:br>
              <a:r>
                <a:rPr b="0" i="0" lang="es-CL" sz="1400" u="none" cap="none" strike="noStrike">
                  <a:solidFill>
                    <a:schemeClr val="lt1"/>
                  </a:solidFill>
                  <a:latin typeface="Century Gothic"/>
                  <a:ea typeface="Century Gothic"/>
                  <a:cs typeface="Century Gothic"/>
                  <a:sym typeface="Century Gothic"/>
                </a:rPr>
                <a:t>• Implementación de reportes visuales y gráficos</a:t>
              </a:r>
              <a:br>
                <a:rPr b="0" i="0" lang="es-CL" sz="1400" u="none" cap="none" strike="noStrike">
                  <a:solidFill>
                    <a:schemeClr val="lt1"/>
                  </a:solidFill>
                  <a:latin typeface="Century Gothic"/>
                  <a:ea typeface="Century Gothic"/>
                  <a:cs typeface="Century Gothic"/>
                  <a:sym typeface="Century Gothic"/>
                </a:rPr>
              </a:br>
              <a:r>
                <a:rPr b="0" i="0" lang="es-CL" sz="1400" u="none" cap="none" strike="noStrike">
                  <a:solidFill>
                    <a:schemeClr val="lt1"/>
                  </a:solidFill>
                  <a:latin typeface="Century Gothic"/>
                  <a:ea typeface="Century Gothic"/>
                  <a:cs typeface="Century Gothic"/>
                  <a:sym typeface="Century Gothic"/>
                </a:rPr>
                <a:t>• Pruebas de usabilidad y ajustes de interfaz</a:t>
              </a:r>
              <a:endParaRPr b="0" i="0" sz="1400" u="none" cap="none" strike="noStrike">
                <a:solidFill>
                  <a:schemeClr val="lt1"/>
                </a:solidFill>
                <a:latin typeface="Century Gothic"/>
                <a:ea typeface="Century Gothic"/>
                <a:cs typeface="Century Gothic"/>
                <a:sym typeface="Century Gothic"/>
              </a:endParaRPr>
            </a:p>
          </p:txBody>
        </p:sp>
        <p:sp>
          <p:nvSpPr>
            <p:cNvPr id="179" name="Google Shape;179;p2"/>
            <p:cNvSpPr/>
            <p:nvPr/>
          </p:nvSpPr>
          <p:spPr>
            <a:xfrm>
              <a:off x="135954" y="1631457"/>
              <a:ext cx="1526700" cy="1087500"/>
            </a:xfrm>
            <a:prstGeom prst="roundRect">
              <a:avLst>
                <a:gd fmla="val 10000" name="adj"/>
              </a:avLst>
            </a:prstGeom>
            <a:solidFill>
              <a:srgbClr val="C1CDD4"/>
            </a:solidFill>
            <a:ln>
              <a:noFill/>
            </a:ln>
            <a:effectLst>
              <a:outerShdw blurRad="63500" rotWithShape="0" dir="5400000" dist="38100">
                <a:srgbClr val="000000">
                  <a:alpha val="6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pic>
        <p:nvPicPr>
          <p:cNvPr descr="Hombre de oficina - Iconos gratis de personas" id="180" name="Google Shape;180;p2"/>
          <p:cNvPicPr preferRelativeResize="0"/>
          <p:nvPr/>
        </p:nvPicPr>
        <p:blipFill rotWithShape="1">
          <a:blip r:embed="rId6">
            <a:alphaModFix/>
          </a:blip>
          <a:srcRect b="0" l="0" r="0" t="0"/>
          <a:stretch/>
        </p:blipFill>
        <p:spPr>
          <a:xfrm>
            <a:off x="5031942" y="1646948"/>
            <a:ext cx="1414286" cy="1414286"/>
          </a:xfrm>
          <a:prstGeom prst="rect">
            <a:avLst/>
          </a:prstGeom>
          <a:noFill/>
          <a:ln>
            <a:noFill/>
          </a:ln>
        </p:spPr>
      </p:pic>
      <p:pic>
        <p:nvPicPr>
          <p:cNvPr descr="Hombre de oficina - Iconos gratis de personas" id="181" name="Google Shape;181;p2"/>
          <p:cNvPicPr preferRelativeResize="0"/>
          <p:nvPr/>
        </p:nvPicPr>
        <p:blipFill rotWithShape="1">
          <a:blip r:embed="rId7">
            <a:alphaModFix/>
          </a:blip>
          <a:srcRect b="0" l="0" r="0" t="0"/>
          <a:stretch/>
        </p:blipFill>
        <p:spPr>
          <a:xfrm>
            <a:off x="5031942" y="3585191"/>
            <a:ext cx="1432229" cy="1432229"/>
          </a:xfrm>
          <a:prstGeom prst="rect">
            <a:avLst/>
          </a:prstGeom>
          <a:noFill/>
          <a:ln>
            <a:noFill/>
          </a:ln>
        </p:spPr>
      </p:pic>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
          <p:cNvSpPr txBox="1"/>
          <p:nvPr/>
        </p:nvSpPr>
        <p:spPr>
          <a:xfrm>
            <a:off x="0" y="655361"/>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3600"/>
              <a:buFont typeface="Century Gothic"/>
              <a:buNone/>
            </a:pPr>
            <a:r>
              <a:rPr b="0" i="0" lang="es-CL" sz="3600" u="none" cap="none" strike="noStrike">
                <a:solidFill>
                  <a:schemeClr val="lt1"/>
                </a:solidFill>
                <a:latin typeface="Century Gothic"/>
                <a:ea typeface="Century Gothic"/>
                <a:cs typeface="Century Gothic"/>
                <a:sym typeface="Century Gothic"/>
              </a:rPr>
              <a:t>DESCRIPCIÓN DEL PROYECTO</a:t>
            </a:r>
            <a:endParaRPr b="0" i="0" sz="1800" u="none" cap="none" strike="noStrike">
              <a:solidFill>
                <a:schemeClr val="lt1"/>
              </a:solidFill>
              <a:latin typeface="Century Gothic"/>
              <a:ea typeface="Century Gothic"/>
              <a:cs typeface="Century Gothic"/>
              <a:sym typeface="Century Gothic"/>
            </a:endParaRPr>
          </a:p>
        </p:txBody>
      </p:sp>
      <p:sp>
        <p:nvSpPr>
          <p:cNvPr id="187" name="Google Shape;187;p3"/>
          <p:cNvSpPr/>
          <p:nvPr/>
        </p:nvSpPr>
        <p:spPr>
          <a:xfrm>
            <a:off x="566929" y="2049669"/>
            <a:ext cx="4590154" cy="3180699"/>
          </a:xfrm>
          <a:prstGeom prst="roundRect">
            <a:avLst>
              <a:gd fmla="val 10901" name="adj"/>
            </a:avLst>
          </a:prstGeom>
          <a:solidFill>
            <a:schemeClr val="lt1"/>
          </a:solidFill>
          <a:ln cap="rnd" cmpd="sng" w="190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3200"/>
              <a:buFont typeface="Century Gothic"/>
              <a:buNone/>
            </a:pPr>
            <a:r>
              <a:rPr b="0" i="0" lang="es-CL" sz="3200" u="sng" cap="none" strike="noStrike">
                <a:solidFill>
                  <a:schemeClr val="dk1"/>
                </a:solidFill>
                <a:latin typeface="Century Gothic"/>
                <a:ea typeface="Century Gothic"/>
                <a:cs typeface="Century Gothic"/>
                <a:sym typeface="Century Gothic"/>
              </a:rPr>
              <a:t>Problema</a:t>
            </a:r>
            <a:endParaRPr/>
          </a:p>
          <a:p>
            <a:pPr indent="0" lvl="0" marL="0" marR="0" rtl="0" algn="ctr">
              <a:spcBef>
                <a:spcPts val="0"/>
              </a:spcBef>
              <a:spcAft>
                <a:spcPts val="0"/>
              </a:spcAft>
              <a:buClr>
                <a:schemeClr val="lt1"/>
              </a:buClr>
              <a:buSzPts val="1800"/>
              <a:buFont typeface="Calibri"/>
              <a:buNone/>
            </a:pPr>
            <a:r>
              <a:t/>
            </a:r>
            <a:endParaRPr b="0" i="0" sz="1800" u="sng" cap="none" strike="noStrike">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0" i="0" lang="es-CL" sz="1600" u="none" cap="none" strike="noStrike">
                <a:solidFill>
                  <a:schemeClr val="dk1"/>
                </a:solidFill>
                <a:latin typeface="Calibri"/>
                <a:ea typeface="Calibri"/>
                <a:cs typeface="Calibri"/>
                <a:sym typeface="Calibri"/>
              </a:rPr>
              <a:t>La gestión financiera personal suele ser difícil y afecta la capacidad de planificación económica de las personas. El manejo poco claro de ingresos y gastos genera estrés y dificulta la toma de decisiones informadas. Además, existe una falta de herramientas simples que conviertan datos financieros en información fácil de comprender y utilizar.</a:t>
            </a:r>
            <a:endParaRPr b="0" i="0" sz="1800" u="sng" cap="none" strike="noStrike">
              <a:solidFill>
                <a:schemeClr val="dk1"/>
              </a:solidFill>
              <a:latin typeface="Century Gothic"/>
              <a:ea typeface="Century Gothic"/>
              <a:cs typeface="Century Gothic"/>
              <a:sym typeface="Century Gothic"/>
            </a:endParaRPr>
          </a:p>
        </p:txBody>
      </p:sp>
      <p:sp>
        <p:nvSpPr>
          <p:cNvPr id="188" name="Google Shape;188;p3"/>
          <p:cNvSpPr/>
          <p:nvPr/>
        </p:nvSpPr>
        <p:spPr>
          <a:xfrm>
            <a:off x="7034917" y="2049668"/>
            <a:ext cx="4590154" cy="3180699"/>
          </a:xfrm>
          <a:prstGeom prst="roundRect">
            <a:avLst>
              <a:gd fmla="val 10901" name="adj"/>
            </a:avLst>
          </a:prstGeom>
          <a:solidFill>
            <a:schemeClr val="lt1"/>
          </a:solidFill>
          <a:ln cap="rnd" cmpd="sng" w="190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Century Gothic"/>
              <a:buNone/>
            </a:pPr>
            <a:r>
              <a:rPr b="0" i="0" lang="es-CL" sz="2800" u="sng" cap="none" strike="noStrike">
                <a:solidFill>
                  <a:schemeClr val="dk1"/>
                </a:solidFill>
                <a:latin typeface="Century Gothic"/>
                <a:ea typeface="Century Gothic"/>
                <a:cs typeface="Century Gothic"/>
                <a:sym typeface="Century Gothic"/>
              </a:rPr>
              <a:t>Propuesta de solución</a:t>
            </a:r>
            <a:endParaRPr/>
          </a:p>
          <a:p>
            <a:pPr indent="0" lvl="0" marL="0" marR="0" rtl="0" algn="ctr">
              <a:spcBef>
                <a:spcPts val="0"/>
              </a:spcBef>
              <a:spcAft>
                <a:spcPts val="0"/>
              </a:spcAft>
              <a:buClr>
                <a:schemeClr val="dk1"/>
              </a:buClr>
              <a:buSzPts val="2800"/>
              <a:buFont typeface="Century Gothic"/>
              <a:buNone/>
            </a:pPr>
            <a:r>
              <a:rPr b="0" i="0" lang="es-CL" sz="2800" u="sng" cap="none" strike="noStrike">
                <a:solidFill>
                  <a:schemeClr val="dk1"/>
                </a:solidFill>
                <a:latin typeface="Century Gothic"/>
                <a:ea typeface="Century Gothic"/>
                <a:cs typeface="Century Gothic"/>
                <a:sym typeface="Century Gothic"/>
              </a:rPr>
              <a:t> </a:t>
            </a:r>
            <a:endParaRPr b="0" i="0" sz="1800" u="none" cap="none" strike="noStrike">
              <a:solidFill>
                <a:schemeClr val="lt1"/>
              </a:solidFill>
              <a:latin typeface="Calibri"/>
              <a:ea typeface="Calibri"/>
              <a:cs typeface="Calibri"/>
              <a:sym typeface="Calibri"/>
            </a:endParaRPr>
          </a:p>
          <a:p>
            <a:pPr indent="0" lvl="0" marL="0" marR="0" rtl="0" algn="just">
              <a:spcBef>
                <a:spcPts val="0"/>
              </a:spcBef>
              <a:spcAft>
                <a:spcPts val="0"/>
              </a:spcAft>
              <a:buNone/>
            </a:pPr>
            <a:r>
              <a:rPr b="0" i="0" lang="es-CL" sz="1600" u="none" cap="none" strike="noStrike">
                <a:solidFill>
                  <a:schemeClr val="dk1"/>
                </a:solidFill>
                <a:latin typeface="Calibri"/>
                <a:ea typeface="Calibri"/>
                <a:cs typeface="Calibri"/>
                <a:sym typeface="Calibri"/>
              </a:rPr>
              <a:t>"Clarifi” es una aplicación web que simplifica la gestión financiera personal al permitir registrar ingresos y gastos de manera rápida, organizar los movimientos por categorías y visualizar la información mediante reportes gráficos intuitivos. Esto transforma la gestión financiera en una experiencia clara, accesible y útil para apoyar mejores decisiones económicas</a:t>
            </a:r>
            <a:r>
              <a:rPr b="0" i="0" lang="es-CL" sz="1600" u="none" cap="none" strike="noStrike">
                <a:solidFill>
                  <a:schemeClr val="lt1"/>
                </a:solidFill>
                <a:latin typeface="Calibri"/>
                <a:ea typeface="Calibri"/>
                <a:cs typeface="Calibri"/>
                <a:sym typeface="Calibri"/>
              </a:rPr>
              <a:t>.</a:t>
            </a:r>
            <a:endParaRPr b="0" i="0" sz="1600" u="none" cap="none" strike="noStrike">
              <a:solidFill>
                <a:schemeClr val="dk1"/>
              </a:solidFill>
              <a:latin typeface="Century Gothic"/>
              <a:ea typeface="Century Gothic"/>
              <a:cs typeface="Century Gothic"/>
              <a:sym typeface="Century Gothic"/>
            </a:endParaRPr>
          </a:p>
        </p:txBody>
      </p:sp>
      <p:sp>
        <p:nvSpPr>
          <p:cNvPr id="189" name="Google Shape;189;p3"/>
          <p:cNvSpPr/>
          <p:nvPr/>
        </p:nvSpPr>
        <p:spPr>
          <a:xfrm>
            <a:off x="5525730" y="3170035"/>
            <a:ext cx="1140542" cy="757084"/>
          </a:xfrm>
          <a:prstGeom prst="rightArrow">
            <a:avLst>
              <a:gd fmla="val 50000" name="adj1"/>
              <a:gd fmla="val 50000" name="adj2"/>
            </a:avLst>
          </a:prstGeom>
          <a:solidFill>
            <a:schemeClr val="accent1"/>
          </a:solidFill>
          <a:ln cap="rnd" cmpd="sng" w="19050">
            <a:solidFill>
              <a:srgbClr val="4A080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Calibri"/>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
          <p:cNvSpPr txBox="1"/>
          <p:nvPr/>
        </p:nvSpPr>
        <p:spPr>
          <a:xfrm>
            <a:off x="0" y="673540"/>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3600"/>
              <a:buFont typeface="Century Gothic"/>
              <a:buNone/>
            </a:pPr>
            <a:r>
              <a:rPr b="0" i="0" lang="es-CL" sz="3600" u="none" cap="none" strike="noStrike">
                <a:solidFill>
                  <a:schemeClr val="lt1"/>
                </a:solidFill>
                <a:latin typeface="Century Gothic"/>
                <a:ea typeface="Century Gothic"/>
                <a:cs typeface="Century Gothic"/>
                <a:sym typeface="Century Gothic"/>
              </a:rPr>
              <a:t>Objetivo General</a:t>
            </a:r>
            <a:endParaRPr b="0" i="0" sz="1800" u="none" cap="none" strike="noStrike">
              <a:solidFill>
                <a:schemeClr val="lt1"/>
              </a:solidFill>
              <a:latin typeface="Century Gothic"/>
              <a:ea typeface="Century Gothic"/>
              <a:cs typeface="Century Gothic"/>
              <a:sym typeface="Century Gothic"/>
            </a:endParaRPr>
          </a:p>
        </p:txBody>
      </p:sp>
      <p:sp>
        <p:nvSpPr>
          <p:cNvPr id="195" name="Google Shape;195;p4"/>
          <p:cNvSpPr txBox="1"/>
          <p:nvPr/>
        </p:nvSpPr>
        <p:spPr>
          <a:xfrm>
            <a:off x="0" y="3582941"/>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3600"/>
              <a:buFont typeface="Century Gothic"/>
              <a:buNone/>
            </a:pPr>
            <a:r>
              <a:rPr b="0" i="0" lang="es-CL" sz="3600" u="none" cap="none" strike="noStrike">
                <a:solidFill>
                  <a:schemeClr val="lt1"/>
                </a:solidFill>
                <a:latin typeface="Century Gothic"/>
                <a:ea typeface="Century Gothic"/>
                <a:cs typeface="Century Gothic"/>
                <a:sym typeface="Century Gothic"/>
              </a:rPr>
              <a:t>Objetivos Específicos</a:t>
            </a:r>
            <a:endParaRPr b="0" i="0" sz="1800" u="none" cap="none" strike="noStrike">
              <a:solidFill>
                <a:schemeClr val="lt1"/>
              </a:solidFill>
              <a:latin typeface="Century Gothic"/>
              <a:ea typeface="Century Gothic"/>
              <a:cs typeface="Century Gothic"/>
              <a:sym typeface="Century Gothic"/>
            </a:endParaRPr>
          </a:p>
        </p:txBody>
      </p:sp>
      <p:sp>
        <p:nvSpPr>
          <p:cNvPr id="196" name="Google Shape;196;p4"/>
          <p:cNvSpPr/>
          <p:nvPr/>
        </p:nvSpPr>
        <p:spPr>
          <a:xfrm>
            <a:off x="750770" y="4403918"/>
            <a:ext cx="10962900" cy="2196167"/>
          </a:xfrm>
          <a:prstGeom prst="roundRect">
            <a:avLst>
              <a:gd fmla="val 16667" name="adj"/>
            </a:avLst>
          </a:prstGeom>
          <a:solidFill>
            <a:schemeClr val="lt1"/>
          </a:solid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1200"/>
              </a:spcBef>
              <a:spcAft>
                <a:spcPts val="0"/>
              </a:spcAft>
              <a:buClr>
                <a:schemeClr val="lt1"/>
              </a:buClr>
              <a:buSzPts val="1800"/>
              <a:buFont typeface="Calibri"/>
              <a:buNone/>
            </a:pPr>
            <a:r>
              <a:t/>
            </a:r>
            <a:endParaRPr b="0" i="0" sz="1800" u="none" cap="none" strike="noStrike">
              <a:solidFill>
                <a:schemeClr val="dk1"/>
              </a:solidFill>
              <a:latin typeface="Calibri"/>
              <a:ea typeface="Calibri"/>
              <a:cs typeface="Calibri"/>
              <a:sym typeface="Calibri"/>
            </a:endParaRPr>
          </a:p>
          <a:p>
            <a:pPr indent="-285750" lvl="0" marL="285750" marR="0" rtl="0" algn="ctr">
              <a:spcBef>
                <a:spcPts val="1200"/>
              </a:spcBef>
              <a:spcAft>
                <a:spcPts val="0"/>
              </a:spcAft>
              <a:buClr>
                <a:schemeClr val="dk1"/>
              </a:buClr>
              <a:buSzPts val="1600"/>
              <a:buFont typeface="Arial"/>
              <a:buChar char="•"/>
            </a:pPr>
            <a:r>
              <a:rPr b="0" i="0" lang="es-CL" sz="1600" u="none" cap="none" strike="noStrike">
                <a:solidFill>
                  <a:schemeClr val="dk1"/>
                </a:solidFill>
                <a:latin typeface="Calibri"/>
                <a:ea typeface="Calibri"/>
                <a:cs typeface="Calibri"/>
                <a:sym typeface="Calibri"/>
              </a:rPr>
              <a:t>Implementar un sistema de registro de transacciones intuitivo </a:t>
            </a:r>
            <a:endParaRPr/>
          </a:p>
          <a:p>
            <a:pPr indent="-285750" lvl="0" marL="285750" marR="0" rtl="0" algn="ctr">
              <a:spcBef>
                <a:spcPts val="1200"/>
              </a:spcBef>
              <a:spcAft>
                <a:spcPts val="0"/>
              </a:spcAft>
              <a:buClr>
                <a:schemeClr val="dk1"/>
              </a:buClr>
              <a:buSzPts val="1600"/>
              <a:buFont typeface="Arial"/>
              <a:buChar char="•"/>
            </a:pPr>
            <a:r>
              <a:rPr b="0" i="0" lang="es-CL" sz="1600" u="none" cap="none" strike="noStrike">
                <a:solidFill>
                  <a:schemeClr val="dk1"/>
                </a:solidFill>
                <a:latin typeface="Calibri"/>
                <a:ea typeface="Calibri"/>
                <a:cs typeface="Calibri"/>
                <a:sym typeface="Calibri"/>
              </a:rPr>
              <a:t>Diseñar y modelar una base de datos en PostgreSQL para almacenar usuarios, categorías y movimientos </a:t>
            </a:r>
            <a:endParaRPr/>
          </a:p>
          <a:p>
            <a:pPr indent="-285750" lvl="0" marL="285750" marR="0" rtl="0" algn="ctr">
              <a:spcBef>
                <a:spcPts val="1200"/>
              </a:spcBef>
              <a:spcAft>
                <a:spcPts val="0"/>
              </a:spcAft>
              <a:buClr>
                <a:schemeClr val="dk1"/>
              </a:buClr>
              <a:buSzPts val="1600"/>
              <a:buFont typeface="Arial"/>
              <a:buChar char="•"/>
            </a:pPr>
            <a:r>
              <a:rPr b="0" i="0" lang="es-CL" sz="1600" u="none" cap="none" strike="noStrike">
                <a:solidFill>
                  <a:schemeClr val="dk1"/>
                </a:solidFill>
                <a:latin typeface="Calibri"/>
                <a:ea typeface="Calibri"/>
                <a:cs typeface="Calibri"/>
                <a:sym typeface="Calibri"/>
              </a:rPr>
              <a:t>Desarrollar una interfaz responsive utilizando Next.js y React</a:t>
            </a:r>
            <a:endParaRPr b="0" i="0" sz="1600" u="none" cap="none" strike="noStrike">
              <a:solidFill>
                <a:schemeClr val="dk1"/>
              </a:solidFill>
              <a:latin typeface="Calibri"/>
              <a:ea typeface="Calibri"/>
              <a:cs typeface="Calibri"/>
              <a:sym typeface="Calibri"/>
            </a:endParaRPr>
          </a:p>
          <a:p>
            <a:pPr indent="-285750" lvl="0" marL="285750" marR="0" rtl="0" algn="ctr">
              <a:spcBef>
                <a:spcPts val="1200"/>
              </a:spcBef>
              <a:spcAft>
                <a:spcPts val="0"/>
              </a:spcAft>
              <a:buClr>
                <a:schemeClr val="dk1"/>
              </a:buClr>
              <a:buSzPts val="1600"/>
              <a:buFont typeface="Arial"/>
              <a:buChar char="•"/>
            </a:pPr>
            <a:r>
              <a:rPr b="0" i="0" lang="es-CL" sz="1600" u="none" cap="none" strike="noStrike">
                <a:solidFill>
                  <a:schemeClr val="dk1"/>
                </a:solidFill>
                <a:latin typeface="Calibri"/>
                <a:ea typeface="Calibri"/>
                <a:cs typeface="Calibri"/>
                <a:sym typeface="Calibri"/>
              </a:rPr>
              <a:t>Crear reportes financieros mediante gráficos con Recharts</a:t>
            </a:r>
            <a:endParaRPr b="0" i="0" sz="1600" u="none" cap="none" strike="noStrike">
              <a:solidFill>
                <a:schemeClr val="dk1"/>
              </a:solidFill>
              <a:latin typeface="Calibri"/>
              <a:ea typeface="Calibri"/>
              <a:cs typeface="Calibri"/>
              <a:sym typeface="Calibri"/>
            </a:endParaRPr>
          </a:p>
          <a:p>
            <a:pPr indent="-285750" lvl="0" marL="285750" marR="0" rtl="0" algn="ctr">
              <a:spcBef>
                <a:spcPts val="1200"/>
              </a:spcBef>
              <a:spcAft>
                <a:spcPts val="0"/>
              </a:spcAft>
              <a:buClr>
                <a:schemeClr val="dk1"/>
              </a:buClr>
              <a:buSzPts val="1600"/>
              <a:buFont typeface="Arial"/>
              <a:buChar char="•"/>
            </a:pPr>
            <a:r>
              <a:rPr b="0" i="0" lang="es-CL" sz="1600" u="none" cap="none" strike="noStrike">
                <a:solidFill>
                  <a:schemeClr val="dk1"/>
                </a:solidFill>
                <a:latin typeface="Calibri"/>
                <a:ea typeface="Calibri"/>
                <a:cs typeface="Calibri"/>
                <a:sym typeface="Calibri"/>
              </a:rPr>
              <a:t> Integrar un sistema de autenticación por correo y contraseña con verificación mediante código.</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800"/>
              <a:buFont typeface="Calibri"/>
              <a:buNone/>
            </a:pPr>
            <a:r>
              <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Clr>
                <a:schemeClr val="lt1"/>
              </a:buClr>
              <a:buSzPts val="1800"/>
              <a:buFont typeface="Calibri"/>
              <a:buNone/>
            </a:pPr>
            <a:r>
              <a:t/>
            </a:r>
            <a:endParaRPr b="0" i="0" sz="1800" u="none" cap="none" strike="noStrike">
              <a:solidFill>
                <a:schemeClr val="dk1"/>
              </a:solidFill>
              <a:latin typeface="Century Gothic"/>
              <a:ea typeface="Century Gothic"/>
              <a:cs typeface="Century Gothic"/>
              <a:sym typeface="Century Gothic"/>
            </a:endParaRPr>
          </a:p>
        </p:txBody>
      </p:sp>
      <p:sp>
        <p:nvSpPr>
          <p:cNvPr id="197" name="Google Shape;197;p4"/>
          <p:cNvSpPr/>
          <p:nvPr/>
        </p:nvSpPr>
        <p:spPr>
          <a:xfrm>
            <a:off x="750770" y="1663880"/>
            <a:ext cx="10962967" cy="1575221"/>
          </a:xfrm>
          <a:prstGeom prst="roundRect">
            <a:avLst>
              <a:gd fmla="val 16667" name="adj"/>
            </a:avLst>
          </a:prstGeom>
          <a:solidFill>
            <a:schemeClr val="lt1"/>
          </a:solid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CL" sz="1600" u="none" cap="none" strike="noStrike">
                <a:solidFill>
                  <a:schemeClr val="dk1"/>
                </a:solidFill>
                <a:latin typeface="Calibri"/>
                <a:ea typeface="Calibri"/>
                <a:cs typeface="Calibri"/>
                <a:sym typeface="Calibri"/>
              </a:rPr>
              <a:t>Desarrollar una aplicación web de finanzas personales que permita registrar ingresos y gastos, organizar transacciones por categorías, visualizar reportes gráficos y ofrecer una visión clara de la situación económica del usuario.</a:t>
            </a:r>
            <a:endParaRPr b="0" i="0" sz="1600" u="none" cap="none" strike="noStrike">
              <a:solidFill>
                <a:schemeClr val="dk1"/>
              </a:solidFill>
              <a:latin typeface="Century Gothic"/>
              <a:ea typeface="Century Gothic"/>
              <a:cs typeface="Century Gothic"/>
              <a:sym typeface="Century Gothic"/>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5"/>
          <p:cNvSpPr txBox="1"/>
          <p:nvPr/>
        </p:nvSpPr>
        <p:spPr>
          <a:xfrm>
            <a:off x="323850" y="1057326"/>
            <a:ext cx="1094422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3600"/>
              <a:buFont typeface="Century Gothic"/>
              <a:buNone/>
            </a:pPr>
            <a:r>
              <a:rPr b="0" i="0" lang="es-CL" sz="3600" u="none" cap="none" strike="noStrike">
                <a:solidFill>
                  <a:schemeClr val="lt1"/>
                </a:solidFill>
                <a:latin typeface="Century Gothic"/>
                <a:ea typeface="Century Gothic"/>
                <a:cs typeface="Century Gothic"/>
                <a:sym typeface="Century Gothic"/>
              </a:rPr>
              <a:t>Alcances y limitaciones del proyecto</a:t>
            </a:r>
            <a:endParaRPr b="0" i="0" sz="1800" u="none" cap="none" strike="noStrike">
              <a:solidFill>
                <a:schemeClr val="lt1"/>
              </a:solidFill>
              <a:latin typeface="Calibri"/>
              <a:ea typeface="Calibri"/>
              <a:cs typeface="Calibri"/>
              <a:sym typeface="Calibri"/>
            </a:endParaRPr>
          </a:p>
        </p:txBody>
      </p:sp>
      <p:sp>
        <p:nvSpPr>
          <p:cNvPr id="203" name="Google Shape;203;p5"/>
          <p:cNvSpPr/>
          <p:nvPr/>
        </p:nvSpPr>
        <p:spPr>
          <a:xfrm>
            <a:off x="714908" y="2157952"/>
            <a:ext cx="4348800" cy="4190004"/>
          </a:xfrm>
          <a:prstGeom prst="roundRect">
            <a:avLst>
              <a:gd fmla="val 10901" name="adj"/>
            </a:avLst>
          </a:prstGeom>
          <a:solidFill>
            <a:schemeClr val="lt1"/>
          </a:solidFill>
          <a:ln cap="rnd" cmpd="sng" w="190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1800"/>
              <a:buFont typeface="Century Gothic"/>
              <a:buNone/>
            </a:pPr>
            <a:r>
              <a:rPr b="1" i="0" lang="es-CL" sz="1800" u="none" cap="none" strike="noStrike">
                <a:solidFill>
                  <a:schemeClr val="dk1"/>
                </a:solidFill>
                <a:latin typeface="Century Gothic"/>
                <a:ea typeface="Century Gothic"/>
                <a:cs typeface="Century Gothic"/>
                <a:sym typeface="Century Gothic"/>
              </a:rPr>
              <a:t> </a:t>
            </a:r>
            <a:r>
              <a:rPr b="1" i="0" lang="es-CL" sz="1800" u="sng" cap="none" strike="noStrike">
                <a:solidFill>
                  <a:schemeClr val="dk1"/>
                </a:solidFill>
                <a:latin typeface="Century Gothic"/>
                <a:ea typeface="Century Gothic"/>
                <a:cs typeface="Century Gothic"/>
                <a:sym typeface="Century Gothic"/>
              </a:rPr>
              <a:t>ALCANCES</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t/>
            </a:r>
            <a:endParaRPr b="0" i="0" sz="1300" u="none" cap="none" strike="noStrike">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Registro de ingresos y gastos mediante interfaz web</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Organización por categorías personalizables.</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Reportes visuales con gráficos dinámicos</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Autenticaci</a:t>
            </a:r>
            <a:r>
              <a:rPr lang="es-CL">
                <a:solidFill>
                  <a:schemeClr val="dk1"/>
                </a:solidFill>
                <a:latin typeface="Calibri"/>
                <a:ea typeface="Calibri"/>
                <a:cs typeface="Calibri"/>
                <a:sym typeface="Calibri"/>
              </a:rPr>
              <a:t>ó</a:t>
            </a:r>
            <a:r>
              <a:rPr b="0" i="0" lang="es-CL" sz="1400" u="none" cap="none" strike="noStrike">
                <a:solidFill>
                  <a:schemeClr val="dk1"/>
                </a:solidFill>
                <a:latin typeface="Calibri"/>
                <a:ea typeface="Calibri"/>
                <a:cs typeface="Calibri"/>
                <a:sym typeface="Calibri"/>
              </a:rPr>
              <a:t>n por correo y contraseña</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Aplicación web responsive</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Base de datos Post</a:t>
            </a:r>
            <a:r>
              <a:rPr lang="es-CL">
                <a:solidFill>
                  <a:schemeClr val="dk1"/>
                </a:solidFill>
                <a:latin typeface="Calibri"/>
                <a:ea typeface="Calibri"/>
                <a:cs typeface="Calibri"/>
                <a:sym typeface="Calibri"/>
              </a:rPr>
              <a:t>g</a:t>
            </a:r>
            <a:r>
              <a:rPr b="0" i="0" lang="es-CL" sz="1400" u="none" cap="none" strike="noStrike">
                <a:solidFill>
                  <a:schemeClr val="dk1"/>
                </a:solidFill>
                <a:latin typeface="Calibri"/>
                <a:ea typeface="Calibri"/>
                <a:cs typeface="Calibri"/>
                <a:sym typeface="Calibri"/>
              </a:rPr>
              <a:t>reSQL para almacenamiento seguro y escalable</a:t>
            </a:r>
            <a:r>
              <a:rPr lang="es-CL">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
        <p:nvSpPr>
          <p:cNvPr id="204" name="Google Shape;204;p5"/>
          <p:cNvSpPr/>
          <p:nvPr/>
        </p:nvSpPr>
        <p:spPr>
          <a:xfrm>
            <a:off x="6808712" y="2157952"/>
            <a:ext cx="4348705" cy="4092601"/>
          </a:xfrm>
          <a:prstGeom prst="roundRect">
            <a:avLst>
              <a:gd fmla="val 10901" name="adj"/>
            </a:avLst>
          </a:prstGeom>
          <a:solidFill>
            <a:schemeClr val="lt1"/>
          </a:solidFill>
          <a:ln cap="rnd" cmpd="sng" w="190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entury Gothic"/>
              <a:buNone/>
            </a:pPr>
            <a:r>
              <a:rPr b="1" i="0" lang="es-CL" sz="1800" u="none" cap="none" strike="noStrike">
                <a:solidFill>
                  <a:schemeClr val="dk1"/>
                </a:solidFill>
                <a:latin typeface="Century Gothic"/>
                <a:ea typeface="Century Gothic"/>
                <a:cs typeface="Century Gothic"/>
                <a:sym typeface="Century Gothic"/>
              </a:rPr>
              <a:t>	 	   </a:t>
            </a:r>
            <a:r>
              <a:rPr b="1" i="0" lang="es-CL" sz="1800" u="sng" cap="none" strike="noStrike">
                <a:solidFill>
                  <a:schemeClr val="dk1"/>
                </a:solidFill>
                <a:latin typeface="Century Gothic"/>
                <a:ea typeface="Century Gothic"/>
                <a:cs typeface="Century Gothic"/>
                <a:sym typeface="Century Gothic"/>
              </a:rPr>
              <a:t>LIMITACIONES</a:t>
            </a:r>
            <a:endParaRPr b="0" i="0" sz="1800" u="none" cap="none" strike="noStrike">
              <a:solidFill>
                <a:schemeClr val="lt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entury Gothic"/>
              <a:buNone/>
            </a:pPr>
            <a:r>
              <a:rPr b="0" i="0" lang="es-CL" sz="1600" u="none" cap="none" strike="noStrike">
                <a:solidFill>
                  <a:schemeClr val="dk1"/>
                </a:solidFill>
                <a:latin typeface="Century Gothic"/>
                <a:ea typeface="Century Gothic"/>
                <a:cs typeface="Century Gothic"/>
                <a:sym typeface="Century Gothic"/>
              </a:rPr>
              <a:t> </a:t>
            </a:r>
            <a:endParaRPr b="0" i="0" sz="1600" u="none" cap="none" strike="noStrike">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No incluye conexión con cuentas bancarias reales</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El análisis financiero es básico</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No posee modo offline </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No cuenta con recordatorios automáticos</a:t>
            </a:r>
            <a:endParaRPr/>
          </a:p>
          <a:p>
            <a:pPr indent="-196850" lvl="0" marL="285750" marR="0" rtl="0" algn="l">
              <a:spcBef>
                <a:spcPts val="0"/>
              </a:spcBef>
              <a:spcAft>
                <a:spcPts val="0"/>
              </a:spcAft>
              <a:buClr>
                <a:schemeClr val="lt1"/>
              </a:buClr>
              <a:buSzPts val="1400"/>
              <a:buFont typeface="Arial"/>
              <a:buNone/>
            </a:pPr>
            <a:r>
              <a:t/>
            </a:r>
            <a:endParaRPr b="0" i="0" sz="1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400"/>
              <a:buFont typeface="Arial"/>
              <a:buChar char="•"/>
            </a:pPr>
            <a:r>
              <a:rPr b="0" i="0" lang="es-CL" sz="1400" u="none" cap="none" strike="noStrike">
                <a:solidFill>
                  <a:schemeClr val="dk1"/>
                </a:solidFill>
                <a:latin typeface="Calibri"/>
                <a:ea typeface="Calibri"/>
                <a:cs typeface="Calibri"/>
                <a:sym typeface="Calibri"/>
              </a:rPr>
              <a:t>Personalización de reportes limitada a rangos seleccionables</a:t>
            </a:r>
            <a:r>
              <a:rPr lang="es-CL">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
        <p:nvSpPr>
          <p:cNvPr id="205" name="Google Shape;205;p5"/>
          <p:cNvSpPr/>
          <p:nvPr/>
        </p:nvSpPr>
        <p:spPr>
          <a:xfrm>
            <a:off x="5365891" y="3667128"/>
            <a:ext cx="1140542" cy="757084"/>
          </a:xfrm>
          <a:prstGeom prst="rightArrow">
            <a:avLst>
              <a:gd fmla="val 50000" name="adj1"/>
              <a:gd fmla="val 50000" name="adj2"/>
            </a:avLst>
          </a:prstGeom>
          <a:solidFill>
            <a:schemeClr val="accent1"/>
          </a:solidFill>
          <a:ln cap="rnd" cmpd="sng" w="19050">
            <a:solidFill>
              <a:srgbClr val="4A080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Calibri"/>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par>
                                <p:cTn fill="hold" nodeType="with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 name="Shape 209"/>
        <p:cNvGrpSpPr/>
        <p:nvPr/>
      </p:nvGrpSpPr>
      <p:grpSpPr>
        <a:xfrm>
          <a:off x="0" y="0"/>
          <a:ext cx="0" cy="0"/>
          <a:chOff x="0" y="0"/>
          <a:chExt cx="0" cy="0"/>
        </a:xfrm>
      </p:grpSpPr>
      <p:sp>
        <p:nvSpPr>
          <p:cNvPr id="210" name="Google Shape;210;p6"/>
          <p:cNvSpPr txBox="1"/>
          <p:nvPr/>
        </p:nvSpPr>
        <p:spPr>
          <a:xfrm>
            <a:off x="8481452" y="332425"/>
            <a:ext cx="3316500" cy="931200"/>
          </a:xfrm>
          <a:prstGeom prst="rect">
            <a:avLst/>
          </a:prstGeom>
          <a:noFill/>
          <a:ln>
            <a:noFill/>
          </a:ln>
        </p:spPr>
        <p:txBody>
          <a:bodyPr anchorCtr="0" anchor="b" bIns="45700" lIns="91425" spcFirstLastPara="1" rIns="91425" wrap="square" tIns="45700">
            <a:normAutofit/>
          </a:bodyPr>
          <a:lstStyle/>
          <a:p>
            <a:pPr indent="0" lvl="0" marL="0" marR="0" rtl="0" algn="r">
              <a:lnSpc>
                <a:spcPct val="90000"/>
              </a:lnSpc>
              <a:spcBef>
                <a:spcPts val="0"/>
              </a:spcBef>
              <a:spcAft>
                <a:spcPts val="600"/>
              </a:spcAft>
              <a:buNone/>
            </a:pPr>
            <a:r>
              <a:rPr b="1" i="0" lang="es-CL" sz="2800" u="sng" cap="none" strike="noStrike">
                <a:solidFill>
                  <a:schemeClr val="lt1"/>
                </a:solidFill>
                <a:latin typeface="Calibri"/>
                <a:ea typeface="Calibri"/>
                <a:cs typeface="Calibri"/>
                <a:sym typeface="Calibri"/>
              </a:rPr>
              <a:t>METODOLOGÍA </a:t>
            </a:r>
            <a:r>
              <a:rPr b="1" lang="es-CL" sz="2800" u="sng">
                <a:solidFill>
                  <a:schemeClr val="lt1"/>
                </a:solidFill>
                <a:latin typeface="Calibri"/>
                <a:ea typeface="Calibri"/>
                <a:cs typeface="Calibri"/>
                <a:sym typeface="Calibri"/>
              </a:rPr>
              <a:t> </a:t>
            </a:r>
            <a:r>
              <a:rPr b="1" lang="es-CL" sz="2800" u="sng">
                <a:solidFill>
                  <a:schemeClr val="lt1"/>
                </a:solidFill>
                <a:latin typeface="Calibri"/>
                <a:ea typeface="Calibri"/>
                <a:cs typeface="Calibri"/>
                <a:sym typeface="Calibri"/>
              </a:rPr>
              <a:t>ÁGIL</a:t>
            </a:r>
            <a:endParaRPr b="1" i="0" sz="2800" u="sng" cap="none" strike="noStrike">
              <a:solidFill>
                <a:schemeClr val="lt1"/>
              </a:solidFill>
              <a:latin typeface="Calibri"/>
              <a:ea typeface="Calibri"/>
              <a:cs typeface="Calibri"/>
              <a:sym typeface="Calibri"/>
            </a:endParaRPr>
          </a:p>
        </p:txBody>
      </p:sp>
      <p:graphicFrame>
        <p:nvGraphicFramePr>
          <p:cNvPr id="211" name="Google Shape;211;p6"/>
          <p:cNvGraphicFramePr/>
          <p:nvPr/>
        </p:nvGraphicFramePr>
        <p:xfrm>
          <a:off x="51900" y="267147"/>
          <a:ext cx="3000000" cy="3000000"/>
        </p:xfrm>
        <a:graphic>
          <a:graphicData uri="http://schemas.openxmlformats.org/drawingml/2006/table">
            <a:tbl>
              <a:tblPr>
                <a:noFill/>
                <a:tableStyleId>{0580909A-7882-4EDC-A55A-CCE0AADC7F4B}</a:tableStyleId>
              </a:tblPr>
              <a:tblGrid>
                <a:gridCol w="2668000"/>
                <a:gridCol w="2668000"/>
                <a:gridCol w="2668000"/>
              </a:tblGrid>
              <a:tr h="1098475">
                <a:tc>
                  <a:txBody>
                    <a:bodyPr/>
                    <a:lstStyle/>
                    <a:p>
                      <a:pPr indent="0" lvl="0" marL="0" marR="0" rtl="0" algn="l">
                        <a:spcBef>
                          <a:spcPts val="0"/>
                        </a:spcBef>
                        <a:spcAft>
                          <a:spcPts val="0"/>
                        </a:spcAft>
                        <a:buNone/>
                      </a:pPr>
                      <a:r>
                        <a:rPr lang="es-CL" sz="1200">
                          <a:solidFill>
                            <a:schemeClr val="lt1"/>
                          </a:solidFill>
                        </a:rPr>
                        <a:t>Sprint</a:t>
                      </a:r>
                      <a:endParaRPr sz="1200" u="none" cap="none" strike="noStrike">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200"/>
                        <a:buFont typeface="Calibri"/>
                        <a:buNone/>
                      </a:pPr>
                      <a:r>
                        <a:rPr lang="es-CL" sz="1200">
                          <a:solidFill>
                            <a:schemeClr val="lt1"/>
                          </a:solidFill>
                        </a:rPr>
                        <a:t>Duración</a:t>
                      </a:r>
                      <a:endParaRPr sz="1200" u="none" cap="none" strike="noStrike">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lt1"/>
                        </a:buClr>
                        <a:buSzPts val="1200"/>
                        <a:buFont typeface="Calibri"/>
                        <a:buNone/>
                      </a:pPr>
                      <a:r>
                        <a:rPr lang="es-CL" sz="1200">
                          <a:solidFill>
                            <a:schemeClr val="lt1"/>
                          </a:solidFill>
                        </a:rPr>
                        <a:t>E</a:t>
                      </a:r>
                      <a:r>
                        <a:rPr lang="es-CL" sz="1200">
                          <a:solidFill>
                            <a:schemeClr val="lt1"/>
                          </a:solidFill>
                        </a:rPr>
                        <a:t>ntregables principales</a:t>
                      </a:r>
                      <a:endParaRPr sz="1200" u="none" cap="none" strike="noStrike">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098475">
                <a:tc>
                  <a:txBody>
                    <a:bodyPr/>
                    <a:lstStyle/>
                    <a:p>
                      <a:pPr indent="0" lvl="0" marL="0" rtl="0" algn="l">
                        <a:spcBef>
                          <a:spcPts val="0"/>
                        </a:spcBef>
                        <a:spcAft>
                          <a:spcPts val="0"/>
                        </a:spcAft>
                        <a:buNone/>
                      </a:pPr>
                      <a:r>
                        <a:rPr lang="es-CL" sz="1200">
                          <a:solidFill>
                            <a:schemeClr val="lt1"/>
                          </a:solidFill>
                        </a:rPr>
                        <a:t>Sprint 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1 Semana</a:t>
                      </a:r>
                      <a:endParaRPr sz="1200" u="none" cap="none" strike="noStrike">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Definición</a:t>
                      </a:r>
                      <a:r>
                        <a:rPr lang="es-CL" sz="1200">
                          <a:solidFill>
                            <a:schemeClr val="lt1"/>
                          </a:solidFill>
                        </a:rPr>
                        <a:t> de roles, </a:t>
                      </a:r>
                      <a:r>
                        <a:rPr lang="es-CL" sz="1200">
                          <a:solidFill>
                            <a:schemeClr val="lt1"/>
                          </a:solidFill>
                        </a:rPr>
                        <a:t>planeación</a:t>
                      </a:r>
                      <a:r>
                        <a:rPr lang="es-CL" sz="1200">
                          <a:solidFill>
                            <a:schemeClr val="lt1"/>
                          </a:solidFill>
                        </a:rPr>
                        <a:t> de </a:t>
                      </a:r>
                      <a:r>
                        <a:rPr lang="es-CL" sz="1200">
                          <a:solidFill>
                            <a:schemeClr val="lt1"/>
                          </a:solidFill>
                        </a:rPr>
                        <a:t>Problemática</a:t>
                      </a:r>
                      <a:r>
                        <a:rPr lang="es-CL" sz="1200">
                          <a:solidFill>
                            <a:schemeClr val="lt1"/>
                          </a:solidFill>
                        </a:rPr>
                        <a:t> y </a:t>
                      </a:r>
                      <a:r>
                        <a:rPr lang="es-CL" sz="1200">
                          <a:solidFill>
                            <a:schemeClr val="lt1"/>
                          </a:solidFill>
                        </a:rPr>
                        <a:t>solución</a:t>
                      </a:r>
                      <a:r>
                        <a:rPr lang="es-CL" sz="1200">
                          <a:solidFill>
                            <a:schemeClr val="lt1"/>
                          </a:solidFill>
                        </a:rPr>
                        <a:t>.</a:t>
                      </a:r>
                      <a:endParaRPr sz="1200" u="none" cap="none" strike="noStrike">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098475">
                <a:tc>
                  <a:txBody>
                    <a:bodyPr/>
                    <a:lstStyle/>
                    <a:p>
                      <a:pPr indent="0" lvl="0" marL="0" marR="0" rtl="0" algn="l">
                        <a:spcBef>
                          <a:spcPts val="0"/>
                        </a:spcBef>
                        <a:spcAft>
                          <a:spcPts val="0"/>
                        </a:spcAft>
                        <a:buClr>
                          <a:schemeClr val="lt1"/>
                        </a:buClr>
                        <a:buSzPts val="1200"/>
                        <a:buFont typeface="Calibri"/>
                        <a:buNone/>
                      </a:pPr>
                      <a:r>
                        <a:rPr lang="es-CL" sz="1200" u="none" cap="none" strike="noStrike">
                          <a:solidFill>
                            <a:schemeClr val="lt1"/>
                          </a:solidFill>
                        </a:rPr>
                        <a:t>Sprint </a:t>
                      </a:r>
                      <a:r>
                        <a:rPr lang="es-CL" sz="1200">
                          <a:solidFill>
                            <a:schemeClr val="lt1"/>
                          </a:solidFill>
                        </a:rPr>
                        <a:t>1</a:t>
                      </a:r>
                      <a:endParaRPr sz="1200" u="none" cap="none" strike="noStrike">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u="none" cap="none" strike="noStrike">
                          <a:solidFill>
                            <a:schemeClr val="lt1"/>
                          </a:solidFill>
                        </a:rPr>
                        <a:t>1 </a:t>
                      </a:r>
                      <a:r>
                        <a:rPr lang="es-CL" sz="1200">
                          <a:solidFill>
                            <a:schemeClr val="lt1"/>
                          </a:solidFill>
                        </a:rPr>
                        <a:t>S</a:t>
                      </a:r>
                      <a:r>
                        <a:rPr lang="es-CL" sz="1200" u="none" cap="none" strike="noStrike">
                          <a:solidFill>
                            <a:schemeClr val="lt1"/>
                          </a:solidFill>
                        </a:rPr>
                        <a:t>emana</a:t>
                      </a:r>
                      <a:endParaRPr sz="1200" u="none" cap="none" strike="noStrike">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s-CL" sz="1200" u="none" cap="none" strike="noStrike">
                          <a:solidFill>
                            <a:schemeClr val="lt1"/>
                          </a:solidFill>
                        </a:rPr>
                        <a:t>Configuración inicial del proyecto, análisis de requerimientos, diseño preliminar del sistema, setup de Next.js, PostgreSQL y repositorio.</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098475">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Sprint 2</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4</a:t>
                      </a:r>
                      <a:r>
                        <a:rPr lang="es-CL" sz="1200">
                          <a:solidFill>
                            <a:schemeClr val="lt1"/>
                          </a:solidFill>
                        </a:rPr>
                        <a:t> Semanas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Sistema de usuarios y autenticación (registro, login, verificación), creación de tablas principales, primeras interfaces de acceso, conexión a la base de datos.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098475">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Sprint 3</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4</a:t>
                      </a:r>
                      <a:r>
                        <a:rPr lang="es-CL" sz="1200">
                          <a:solidFill>
                            <a:schemeClr val="lt1"/>
                          </a:solidFill>
                        </a:rPr>
                        <a:t> Semanas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CRUD de transacciones y categorías, dashboard completo, gráficos financieros, integración frontend-backend, diseño visual con Radix UI.</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098475">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Sprint 4</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4</a:t>
                      </a:r>
                      <a:r>
                        <a:rPr lang="es-CL" sz="1200">
                          <a:solidFill>
                            <a:schemeClr val="lt1"/>
                          </a:solidFill>
                        </a:rPr>
                        <a:t> Semanas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chemeClr val="lt1"/>
                        </a:buClr>
                        <a:buSzPts val="1200"/>
                        <a:buFont typeface="Calibri"/>
                        <a:buNone/>
                      </a:pPr>
                      <a:r>
                        <a:rPr lang="es-CL" sz="1200">
                          <a:solidFill>
                            <a:schemeClr val="lt1"/>
                          </a:solidFill>
                        </a:rPr>
                        <a:t>Pruebas completas, correcciones finales, optimización, documentación, manual de uso y preparación de presentación final.</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pic>
        <p:nvPicPr>
          <p:cNvPr id="212" name="Google Shape;212;p6"/>
          <p:cNvPicPr preferRelativeResize="0"/>
          <p:nvPr/>
        </p:nvPicPr>
        <p:blipFill>
          <a:blip r:embed="rId4">
            <a:alphaModFix/>
          </a:blip>
          <a:stretch>
            <a:fillRect/>
          </a:stretch>
        </p:blipFill>
        <p:spPr>
          <a:xfrm>
            <a:off x="8224050" y="1675525"/>
            <a:ext cx="3831300" cy="3847580"/>
          </a:xfrm>
          <a:prstGeom prst="rect">
            <a:avLst/>
          </a:prstGeom>
          <a:noFill/>
          <a:ln>
            <a:noFill/>
          </a:ln>
        </p:spPr>
      </p:pic>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7"/>
          <p:cNvSpPr txBox="1"/>
          <p:nvPr/>
        </p:nvSpPr>
        <p:spPr>
          <a:xfrm>
            <a:off x="0" y="785352"/>
            <a:ext cx="12192000" cy="64629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3600"/>
              <a:buFont typeface="Century Gothic"/>
              <a:buNone/>
            </a:pPr>
            <a:r>
              <a:rPr lang="es-CL" sz="3600">
                <a:solidFill>
                  <a:schemeClr val="lt1"/>
                </a:solidFill>
                <a:latin typeface="Century Gothic"/>
                <a:ea typeface="Century Gothic"/>
                <a:cs typeface="Century Gothic"/>
                <a:sym typeface="Century Gothic"/>
              </a:rPr>
              <a:t>Cronograma para el desarrollo del proyecto</a:t>
            </a:r>
            <a:endParaRPr sz="1800">
              <a:solidFill>
                <a:schemeClr val="lt1"/>
              </a:solidFill>
              <a:latin typeface="Calibri"/>
              <a:ea typeface="Calibri"/>
              <a:cs typeface="Calibri"/>
              <a:sym typeface="Calibri"/>
            </a:endParaRPr>
          </a:p>
        </p:txBody>
      </p:sp>
      <p:pic>
        <p:nvPicPr>
          <p:cNvPr id="218" name="Google Shape;218;p7"/>
          <p:cNvPicPr preferRelativeResize="0"/>
          <p:nvPr/>
        </p:nvPicPr>
        <p:blipFill>
          <a:blip r:embed="rId3">
            <a:alphaModFix/>
          </a:blip>
          <a:stretch>
            <a:fillRect/>
          </a:stretch>
        </p:blipFill>
        <p:spPr>
          <a:xfrm>
            <a:off x="64362" y="1795325"/>
            <a:ext cx="12063275" cy="4516401"/>
          </a:xfrm>
          <a:prstGeom prst="rect">
            <a:avLst/>
          </a:prstGeom>
          <a:noFill/>
          <a:ln>
            <a:noFill/>
          </a:ln>
        </p:spPr>
      </p:pic>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pic>
        <p:nvPicPr>
          <p:cNvPr id="223" name="Google Shape;223;p8"/>
          <p:cNvPicPr preferRelativeResize="0"/>
          <p:nvPr/>
        </p:nvPicPr>
        <p:blipFill rotWithShape="1">
          <a:blip r:embed="rId4">
            <a:alphaModFix/>
          </a:blip>
          <a:srcRect b="0" l="0" r="0" t="0"/>
          <a:stretch/>
        </p:blipFill>
        <p:spPr>
          <a:xfrm>
            <a:off x="1588" y="888"/>
            <a:ext cx="12188827" cy="6856215"/>
          </a:xfrm>
          <a:prstGeom prst="rect">
            <a:avLst/>
          </a:prstGeom>
          <a:noFill/>
          <a:ln>
            <a:noFill/>
          </a:ln>
        </p:spPr>
      </p:pic>
      <p:sp>
        <p:nvSpPr>
          <p:cNvPr id="224" name="Google Shape;224;p8"/>
          <p:cNvSpPr txBox="1"/>
          <p:nvPr/>
        </p:nvSpPr>
        <p:spPr>
          <a:xfrm>
            <a:off x="8332881" y="643463"/>
            <a:ext cx="3706800" cy="16080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600"/>
              </a:spcAft>
              <a:buNone/>
            </a:pPr>
            <a:r>
              <a:rPr lang="es-CL" sz="3600" cap="none">
                <a:solidFill>
                  <a:schemeClr val="lt1"/>
                </a:solidFill>
                <a:latin typeface="Calibri"/>
                <a:ea typeface="Calibri"/>
                <a:cs typeface="Calibri"/>
                <a:sym typeface="Calibri"/>
              </a:rPr>
              <a:t>“ARQUITECTURA DE SOFTWARE”</a:t>
            </a:r>
            <a:endParaRPr sz="3600" cap="none">
              <a:solidFill>
                <a:schemeClr val="lt1"/>
              </a:solidFill>
              <a:latin typeface="Calibri"/>
              <a:ea typeface="Calibri"/>
              <a:cs typeface="Calibri"/>
              <a:sym typeface="Calibri"/>
            </a:endParaRPr>
          </a:p>
        </p:txBody>
      </p:sp>
      <p:sp>
        <p:nvSpPr>
          <p:cNvPr id="225" name="Google Shape;225;p8"/>
          <p:cNvSpPr/>
          <p:nvPr/>
        </p:nvSpPr>
        <p:spPr>
          <a:xfrm>
            <a:off x="8332894" y="2251487"/>
            <a:ext cx="3706800" cy="3972300"/>
          </a:xfrm>
          <a:prstGeom prst="roundRect">
            <a:avLst>
              <a:gd fmla="val 16667" name="adj"/>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es-CL" sz="1700">
                <a:solidFill>
                  <a:schemeClr val="lt1"/>
                </a:solidFill>
                <a:latin typeface="Calibri"/>
                <a:ea typeface="Calibri"/>
                <a:cs typeface="Calibri"/>
                <a:sym typeface="Calibri"/>
              </a:rPr>
              <a:t>ARQUITECTURA - STACK TECNOLÓGICO</a:t>
            </a:r>
            <a:endParaRPr sz="1700">
              <a:solidFill>
                <a:schemeClr val="lt1"/>
              </a:solidFill>
              <a:latin typeface="Calibri"/>
              <a:ea typeface="Calibri"/>
              <a:cs typeface="Calibri"/>
              <a:sym typeface="Calibri"/>
            </a:endParaRPr>
          </a:p>
          <a:p>
            <a:pPr indent="0" lvl="0" marL="0" marR="0" rtl="0" algn="l">
              <a:lnSpc>
                <a:spcPct val="90000"/>
              </a:lnSpc>
              <a:spcBef>
                <a:spcPts val="1000"/>
              </a:spcBef>
              <a:spcAft>
                <a:spcPts val="0"/>
              </a:spcAft>
              <a:buNone/>
            </a:pPr>
            <a:r>
              <a:rPr lang="es-CL" sz="1700">
                <a:solidFill>
                  <a:schemeClr val="lt1"/>
                </a:solidFill>
                <a:latin typeface="Calibri"/>
                <a:ea typeface="Calibri"/>
                <a:cs typeface="Calibri"/>
                <a:sym typeface="Calibri"/>
              </a:rPr>
              <a:t>Frontend: </a:t>
            </a:r>
            <a:r>
              <a:rPr lang="es-CL" sz="1700" u="sng">
                <a:solidFill>
                  <a:schemeClr val="lt1"/>
                </a:solidFill>
                <a:latin typeface="Calibri"/>
                <a:ea typeface="Calibri"/>
                <a:cs typeface="Calibri"/>
                <a:sym typeface="Calibri"/>
                <a:hlinkClick r:id="rId5">
                  <a:extLst>
                    <a:ext uri="{A12FA001-AC4F-418D-AE19-62706E023703}">
                      <ahyp:hlinkClr val="tx"/>
                    </a:ext>
                  </a:extLst>
                </a:hlinkClick>
              </a:rPr>
              <a:t>Next.js</a:t>
            </a:r>
            <a:r>
              <a:rPr lang="es-CL" sz="1700">
                <a:solidFill>
                  <a:schemeClr val="lt1"/>
                </a:solidFill>
                <a:latin typeface="Calibri"/>
                <a:ea typeface="Calibri"/>
                <a:cs typeface="Calibri"/>
                <a:sym typeface="Calibri"/>
              </a:rPr>
              <a:t> con react - Librerias UI</a:t>
            </a:r>
            <a:endParaRPr sz="1700">
              <a:solidFill>
                <a:schemeClr val="lt1"/>
              </a:solidFill>
              <a:latin typeface="Calibri"/>
              <a:ea typeface="Calibri"/>
              <a:cs typeface="Calibri"/>
              <a:sym typeface="Calibri"/>
            </a:endParaRPr>
          </a:p>
          <a:p>
            <a:pPr indent="0" lvl="0" marL="0" marR="0" rtl="0" algn="l">
              <a:lnSpc>
                <a:spcPct val="90000"/>
              </a:lnSpc>
              <a:spcBef>
                <a:spcPts val="1000"/>
              </a:spcBef>
              <a:spcAft>
                <a:spcPts val="0"/>
              </a:spcAft>
              <a:buNone/>
            </a:pPr>
            <a:r>
              <a:rPr lang="es-CL" sz="1700">
                <a:solidFill>
                  <a:schemeClr val="lt1"/>
                </a:solidFill>
                <a:latin typeface="Calibri"/>
                <a:ea typeface="Calibri"/>
                <a:cs typeface="Calibri"/>
                <a:sym typeface="Calibri"/>
              </a:rPr>
              <a:t>Backend: API Routes(</a:t>
            </a:r>
            <a:r>
              <a:rPr lang="es-CL" sz="1700" u="sng">
                <a:solidFill>
                  <a:schemeClr val="lt1"/>
                </a:solidFill>
                <a:latin typeface="Calibri"/>
                <a:ea typeface="Calibri"/>
                <a:cs typeface="Calibri"/>
                <a:sym typeface="Calibri"/>
                <a:hlinkClick r:id="rId6">
                  <a:extLst>
                    <a:ext uri="{A12FA001-AC4F-418D-AE19-62706E023703}">
                      <ahyp:hlinkClr val="tx"/>
                    </a:ext>
                  </a:extLst>
                </a:hlinkClick>
              </a:rPr>
              <a:t>Next.js</a:t>
            </a:r>
            <a:r>
              <a:rPr lang="es-CL" sz="1700">
                <a:solidFill>
                  <a:schemeClr val="lt1"/>
                </a:solidFill>
                <a:latin typeface="Calibri"/>
                <a:ea typeface="Calibri"/>
                <a:cs typeface="Calibri"/>
                <a:sym typeface="Calibri"/>
              </a:rPr>
              <a:t> API)</a:t>
            </a:r>
            <a:endParaRPr sz="1700">
              <a:solidFill>
                <a:schemeClr val="lt1"/>
              </a:solidFill>
              <a:latin typeface="Calibri"/>
              <a:ea typeface="Calibri"/>
              <a:cs typeface="Calibri"/>
              <a:sym typeface="Calibri"/>
            </a:endParaRPr>
          </a:p>
          <a:p>
            <a:pPr indent="0" lvl="0" marL="0" marR="0" rtl="0" algn="l">
              <a:lnSpc>
                <a:spcPct val="90000"/>
              </a:lnSpc>
              <a:spcBef>
                <a:spcPts val="1000"/>
              </a:spcBef>
              <a:spcAft>
                <a:spcPts val="0"/>
              </a:spcAft>
              <a:buNone/>
            </a:pPr>
            <a:br>
              <a:rPr lang="es-CL" sz="1700">
                <a:solidFill>
                  <a:schemeClr val="lt1"/>
                </a:solidFill>
                <a:latin typeface="Calibri"/>
                <a:ea typeface="Calibri"/>
                <a:cs typeface="Calibri"/>
                <a:sym typeface="Calibri"/>
              </a:rPr>
            </a:br>
            <a:r>
              <a:rPr lang="es-CL" sz="1700">
                <a:solidFill>
                  <a:schemeClr val="lt1"/>
                </a:solidFill>
                <a:latin typeface="Calibri"/>
                <a:ea typeface="Calibri"/>
                <a:cs typeface="Calibri"/>
                <a:sym typeface="Calibri"/>
              </a:rPr>
              <a:t>Base de Datos: PostgresSQL</a:t>
            </a:r>
            <a:endParaRPr sz="1700">
              <a:solidFill>
                <a:schemeClr val="lt1"/>
              </a:solidFill>
              <a:latin typeface="Calibri"/>
              <a:ea typeface="Calibri"/>
              <a:cs typeface="Calibri"/>
              <a:sym typeface="Calibri"/>
            </a:endParaRPr>
          </a:p>
          <a:p>
            <a:pPr indent="0" lvl="0" marL="0" marR="0" rtl="0" algn="l">
              <a:lnSpc>
                <a:spcPct val="90000"/>
              </a:lnSpc>
              <a:spcBef>
                <a:spcPts val="1000"/>
              </a:spcBef>
              <a:spcAft>
                <a:spcPts val="0"/>
              </a:spcAft>
              <a:buNone/>
            </a:pPr>
            <a:br>
              <a:rPr lang="es-CL" sz="1700">
                <a:solidFill>
                  <a:schemeClr val="lt1"/>
                </a:solidFill>
                <a:latin typeface="Calibri"/>
                <a:ea typeface="Calibri"/>
                <a:cs typeface="Calibri"/>
                <a:sym typeface="Calibri"/>
              </a:rPr>
            </a:br>
            <a:r>
              <a:rPr lang="es-CL" sz="1700">
                <a:solidFill>
                  <a:schemeClr val="lt1"/>
                </a:solidFill>
                <a:latin typeface="Calibri"/>
                <a:ea typeface="Calibri"/>
                <a:cs typeface="Calibri"/>
                <a:sym typeface="Calibri"/>
              </a:rPr>
              <a:t>Reportes: Recharts - Gráficos y </a:t>
            </a:r>
            <a:r>
              <a:rPr lang="es-CL" sz="1700">
                <a:solidFill>
                  <a:schemeClr val="lt1"/>
                </a:solidFill>
                <a:latin typeface="Calibri"/>
                <a:ea typeface="Calibri"/>
                <a:cs typeface="Calibri"/>
                <a:sym typeface="Calibri"/>
              </a:rPr>
              <a:t>visualizaciones</a:t>
            </a:r>
            <a:endParaRPr sz="1700">
              <a:solidFill>
                <a:schemeClr val="lt1"/>
              </a:solidFill>
              <a:latin typeface="Calibri"/>
              <a:ea typeface="Calibri"/>
              <a:cs typeface="Calibri"/>
              <a:sym typeface="Calibri"/>
            </a:endParaRPr>
          </a:p>
          <a:p>
            <a:pPr indent="0" lvl="0" marL="0" marR="0" rtl="0" algn="l">
              <a:lnSpc>
                <a:spcPct val="90000"/>
              </a:lnSpc>
              <a:spcBef>
                <a:spcPts val="1000"/>
              </a:spcBef>
              <a:spcAft>
                <a:spcPts val="1000"/>
              </a:spcAft>
              <a:buNone/>
            </a:pPr>
            <a:r>
              <a:rPr lang="es-CL" sz="1700">
                <a:solidFill>
                  <a:schemeClr val="lt1"/>
                </a:solidFill>
                <a:latin typeface="Calibri"/>
                <a:ea typeface="Calibri"/>
                <a:cs typeface="Calibri"/>
                <a:sym typeface="Calibri"/>
              </a:rPr>
              <a:t>Herramientas: VS Code, GitHub, </a:t>
            </a:r>
            <a:r>
              <a:rPr lang="es-CL" sz="1700" u="sng">
                <a:solidFill>
                  <a:schemeClr val="lt1"/>
                </a:solidFill>
                <a:latin typeface="Calibri"/>
                <a:ea typeface="Calibri"/>
                <a:cs typeface="Calibri"/>
                <a:sym typeface="Calibri"/>
                <a:hlinkClick r:id="rId7">
                  <a:extLst>
                    <a:ext uri="{A12FA001-AC4F-418D-AE19-62706E023703}">
                      <ahyp:hlinkClr val="tx"/>
                    </a:ext>
                  </a:extLst>
                </a:hlinkClick>
              </a:rPr>
              <a:t>Next.js</a:t>
            </a:r>
            <a:r>
              <a:rPr lang="es-CL" sz="1700">
                <a:solidFill>
                  <a:schemeClr val="lt1"/>
                </a:solidFill>
                <a:latin typeface="Calibri"/>
                <a:ea typeface="Calibri"/>
                <a:cs typeface="Calibri"/>
                <a:sym typeface="Calibri"/>
              </a:rPr>
              <a:t>, PostgresSQL, </a:t>
            </a:r>
            <a:r>
              <a:rPr lang="es-CL" sz="1700" u="sng">
                <a:solidFill>
                  <a:schemeClr val="lt1"/>
                </a:solidFill>
                <a:latin typeface="Calibri"/>
                <a:ea typeface="Calibri"/>
                <a:cs typeface="Calibri"/>
                <a:sym typeface="Calibri"/>
                <a:hlinkClick r:id="rId8">
                  <a:extLst>
                    <a:ext uri="{A12FA001-AC4F-418D-AE19-62706E023703}">
                      <ahyp:hlinkClr val="tx"/>
                    </a:ext>
                  </a:extLst>
                </a:hlinkClick>
              </a:rPr>
              <a:t>Node.js</a:t>
            </a:r>
            <a:r>
              <a:rPr lang="es-CL" sz="1700">
                <a:solidFill>
                  <a:schemeClr val="lt1"/>
                </a:solidFill>
                <a:latin typeface="Calibri"/>
                <a:ea typeface="Calibri"/>
                <a:cs typeface="Calibri"/>
                <a:sym typeface="Calibri"/>
              </a:rPr>
              <a:t>, Recharts</a:t>
            </a:r>
            <a:endParaRPr sz="1700">
              <a:solidFill>
                <a:schemeClr val="lt1"/>
              </a:solidFill>
              <a:latin typeface="Calibri"/>
              <a:ea typeface="Calibri"/>
              <a:cs typeface="Calibri"/>
              <a:sym typeface="Calibri"/>
            </a:endParaRPr>
          </a:p>
        </p:txBody>
      </p:sp>
      <p:pic>
        <p:nvPicPr>
          <p:cNvPr id="226" name="Google Shape;226;p8"/>
          <p:cNvPicPr preferRelativeResize="0"/>
          <p:nvPr/>
        </p:nvPicPr>
        <p:blipFill>
          <a:blip r:embed="rId9">
            <a:alphaModFix/>
          </a:blip>
          <a:stretch>
            <a:fillRect/>
          </a:stretch>
        </p:blipFill>
        <p:spPr>
          <a:xfrm>
            <a:off x="0" y="1119950"/>
            <a:ext cx="8301873" cy="5737150"/>
          </a:xfrm>
          <a:prstGeom prst="rect">
            <a:avLst/>
          </a:prstGeom>
          <a:noFill/>
          <a:ln>
            <a:noFill/>
          </a:ln>
        </p:spPr>
      </p:pic>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0" name="Shape 230"/>
        <p:cNvGrpSpPr/>
        <p:nvPr/>
      </p:nvGrpSpPr>
      <p:grpSpPr>
        <a:xfrm>
          <a:off x="0" y="0"/>
          <a:ext cx="0" cy="0"/>
          <a:chOff x="0" y="0"/>
          <a:chExt cx="0" cy="0"/>
        </a:xfrm>
      </p:grpSpPr>
      <p:pic>
        <p:nvPicPr>
          <p:cNvPr id="231" name="Google Shape;231;g3accd5e1681_0_0"/>
          <p:cNvPicPr preferRelativeResize="0"/>
          <p:nvPr/>
        </p:nvPicPr>
        <p:blipFill rotWithShape="1">
          <a:blip r:embed="rId4">
            <a:alphaModFix/>
          </a:blip>
          <a:srcRect b="0" l="0" r="0" t="0"/>
          <a:stretch/>
        </p:blipFill>
        <p:spPr>
          <a:xfrm>
            <a:off x="1588" y="888"/>
            <a:ext cx="12188827" cy="6856215"/>
          </a:xfrm>
          <a:prstGeom prst="rect">
            <a:avLst/>
          </a:prstGeom>
          <a:noFill/>
          <a:ln>
            <a:noFill/>
          </a:ln>
        </p:spPr>
      </p:pic>
      <p:sp>
        <p:nvSpPr>
          <p:cNvPr id="232" name="Google Shape;232;g3accd5e1681_0_0"/>
          <p:cNvSpPr txBox="1"/>
          <p:nvPr/>
        </p:nvSpPr>
        <p:spPr>
          <a:xfrm>
            <a:off x="2463150" y="-37050"/>
            <a:ext cx="7265700" cy="1164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600"/>
              </a:spcAft>
              <a:buNone/>
            </a:pPr>
            <a:r>
              <a:rPr lang="es-CL" sz="3600" cap="none">
                <a:solidFill>
                  <a:schemeClr val="lt1"/>
                </a:solidFill>
                <a:latin typeface="Calibri"/>
                <a:ea typeface="Calibri"/>
                <a:cs typeface="Calibri"/>
                <a:sym typeface="Calibri"/>
              </a:rPr>
              <a:t>“ARQUITECTURA DE SOFTWARE”</a:t>
            </a:r>
            <a:endParaRPr sz="3600" cap="none">
              <a:solidFill>
                <a:schemeClr val="lt1"/>
              </a:solidFill>
              <a:latin typeface="Calibri"/>
              <a:ea typeface="Calibri"/>
              <a:cs typeface="Calibri"/>
              <a:sym typeface="Calibri"/>
            </a:endParaRPr>
          </a:p>
        </p:txBody>
      </p:sp>
      <p:pic>
        <p:nvPicPr>
          <p:cNvPr id="233" name="Google Shape;233;g3accd5e1681_0_0"/>
          <p:cNvPicPr preferRelativeResize="0"/>
          <p:nvPr/>
        </p:nvPicPr>
        <p:blipFill>
          <a:blip r:embed="rId5">
            <a:alphaModFix/>
          </a:blip>
          <a:stretch>
            <a:fillRect/>
          </a:stretch>
        </p:blipFill>
        <p:spPr>
          <a:xfrm>
            <a:off x="1600" y="917500"/>
            <a:ext cx="12191978" cy="5940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9"/>
          <p:cNvSpPr txBox="1"/>
          <p:nvPr/>
        </p:nvSpPr>
        <p:spPr>
          <a:xfrm>
            <a:off x="274320" y="633705"/>
            <a:ext cx="12192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3600"/>
              <a:buFont typeface="Century Gothic"/>
              <a:buNone/>
            </a:pPr>
            <a:r>
              <a:rPr lang="es-CL" sz="3600">
                <a:solidFill>
                  <a:schemeClr val="lt1"/>
                </a:solidFill>
                <a:latin typeface="Century Gothic"/>
                <a:ea typeface="Century Gothic"/>
                <a:cs typeface="Century Gothic"/>
                <a:sym typeface="Century Gothic"/>
              </a:rPr>
              <a:t>                            </a:t>
            </a:r>
            <a:r>
              <a:rPr lang="es-CL" sz="3600">
                <a:solidFill>
                  <a:schemeClr val="lt1"/>
                </a:solidFill>
                <a:latin typeface="Century Gothic"/>
                <a:ea typeface="Century Gothic"/>
                <a:cs typeface="Century Gothic"/>
                <a:sym typeface="Century Gothic"/>
              </a:rPr>
              <a:t>Modelo de datos</a:t>
            </a:r>
            <a:endParaRPr sz="1800">
              <a:solidFill>
                <a:schemeClr val="lt1"/>
              </a:solidFill>
              <a:latin typeface="Calibri"/>
              <a:ea typeface="Calibri"/>
              <a:cs typeface="Calibri"/>
              <a:sym typeface="Calibri"/>
            </a:endParaRPr>
          </a:p>
        </p:txBody>
      </p:sp>
      <p:pic>
        <p:nvPicPr>
          <p:cNvPr id="239" name="Google Shape;239;p9" title="modelo_datos_clarifi.png.png"/>
          <p:cNvPicPr preferRelativeResize="0"/>
          <p:nvPr/>
        </p:nvPicPr>
        <p:blipFill rotWithShape="1">
          <a:blip r:embed="rId3">
            <a:alphaModFix/>
          </a:blip>
          <a:srcRect b="0" l="0" r="0" t="0"/>
          <a:stretch/>
        </p:blipFill>
        <p:spPr>
          <a:xfrm>
            <a:off x="749850" y="1549750"/>
            <a:ext cx="10391775" cy="5005150"/>
          </a:xfrm>
          <a:prstGeom prst="rect">
            <a:avLst/>
          </a:prstGeom>
          <a:noFill/>
          <a:ln>
            <a:noFill/>
          </a:ln>
        </p:spPr>
      </p:pic>
    </p:spTree>
  </p:cSld>
  <p:clrMapOvr>
    <a:masterClrMapping/>
  </p:clrMapOvr>
  <p:transition spd="slow">
    <p:wipe dir="l"/>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0"/>
          <p:cNvSpPr txBox="1"/>
          <p:nvPr/>
        </p:nvSpPr>
        <p:spPr>
          <a:xfrm>
            <a:off x="-585216" y="346571"/>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3600"/>
              <a:buFont typeface="Century Gothic"/>
              <a:buNone/>
            </a:pPr>
            <a:r>
              <a:rPr lang="es-CL" sz="3600">
                <a:solidFill>
                  <a:schemeClr val="lt1"/>
                </a:solidFill>
                <a:latin typeface="Century Gothic"/>
                <a:ea typeface="Century Gothic"/>
                <a:cs typeface="Century Gothic"/>
                <a:sym typeface="Century Gothic"/>
              </a:rPr>
              <a:t>Tecnologías utilizadas</a:t>
            </a:r>
            <a:endParaRPr sz="1800">
              <a:solidFill>
                <a:schemeClr val="lt1"/>
              </a:solidFill>
              <a:latin typeface="Calibri"/>
              <a:ea typeface="Calibri"/>
              <a:cs typeface="Calibri"/>
              <a:sym typeface="Calibri"/>
            </a:endParaRPr>
          </a:p>
        </p:txBody>
      </p:sp>
      <p:pic>
        <p:nvPicPr>
          <p:cNvPr descr="Imagen que contiene Icono&#10;&#10;El contenido generado por IA puede ser incorrecto." id="245" name="Google Shape;245;p10"/>
          <p:cNvPicPr preferRelativeResize="0"/>
          <p:nvPr/>
        </p:nvPicPr>
        <p:blipFill rotWithShape="1">
          <a:blip r:embed="rId3">
            <a:alphaModFix/>
          </a:blip>
          <a:srcRect b="0" l="0" r="0" t="0"/>
          <a:stretch/>
        </p:blipFill>
        <p:spPr>
          <a:xfrm>
            <a:off x="312167" y="886561"/>
            <a:ext cx="8183880" cy="5818842"/>
          </a:xfrm>
          <a:prstGeom prst="rect">
            <a:avLst/>
          </a:prstGeom>
          <a:noFill/>
          <a:ln>
            <a:noFill/>
          </a:ln>
        </p:spPr>
      </p:pic>
      <p:pic>
        <p:nvPicPr>
          <p:cNvPr descr="How Capacitor JS Makes It Easier for Developers to Build Apps – Centogram" id="246" name="Google Shape;246;p10"/>
          <p:cNvPicPr preferRelativeResize="0"/>
          <p:nvPr/>
        </p:nvPicPr>
        <p:blipFill rotWithShape="1">
          <a:blip r:embed="rId4">
            <a:alphaModFix/>
          </a:blip>
          <a:srcRect b="0" l="0" r="0" t="0"/>
          <a:stretch/>
        </p:blipFill>
        <p:spPr>
          <a:xfrm>
            <a:off x="8964223" y="1526675"/>
            <a:ext cx="2964654" cy="1581149"/>
          </a:xfrm>
          <a:prstGeom prst="rect">
            <a:avLst/>
          </a:prstGeom>
          <a:noFill/>
          <a:ln>
            <a:noFill/>
          </a:ln>
        </p:spPr>
      </p:pic>
      <p:graphicFrame>
        <p:nvGraphicFramePr>
          <p:cNvPr id="247" name="Google Shape;247;p10"/>
          <p:cNvGraphicFramePr/>
          <p:nvPr/>
        </p:nvGraphicFramePr>
        <p:xfrm>
          <a:off x="7017625" y="5993114"/>
          <a:ext cx="3000000" cy="3000000"/>
        </p:xfrm>
        <a:graphic>
          <a:graphicData uri="http://schemas.openxmlformats.org/drawingml/2006/table">
            <a:tbl>
              <a:tblPr>
                <a:noFill/>
                <a:tableStyleId>{0580909A-7882-4EDC-A55A-CCE0AADC7F4B}</a:tableStyleId>
              </a:tblPr>
              <a:tblGrid>
                <a:gridCol w="1195225"/>
              </a:tblGrid>
              <a:tr h="228600">
                <a:tc>
                  <a:txBody>
                    <a:bodyPr/>
                    <a:lstStyle/>
                    <a:p>
                      <a:pPr indent="0" lvl="0" marL="0" marR="0" rtl="0" algn="l">
                        <a:spcBef>
                          <a:spcPts val="0"/>
                        </a:spcBef>
                        <a:spcAft>
                          <a:spcPts val="0"/>
                        </a:spcAft>
                        <a:buClr>
                          <a:schemeClr val="lt1"/>
                        </a:buClr>
                        <a:buSzPts val="1800"/>
                        <a:buFont typeface="Calibri"/>
                        <a:buNone/>
                      </a:pPr>
                      <a:r>
                        <a:rPr lang="es-CL" sz="1800"/>
                        <a:t>Recharts</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248" name="Google Shape;248;p10"/>
          <p:cNvGraphicFramePr/>
          <p:nvPr/>
        </p:nvGraphicFramePr>
        <p:xfrm>
          <a:off x="668889" y="3324908"/>
          <a:ext cx="3000000" cy="3000000"/>
        </p:xfrm>
        <a:graphic>
          <a:graphicData uri="http://schemas.openxmlformats.org/drawingml/2006/table">
            <a:tbl>
              <a:tblPr>
                <a:noFill/>
                <a:tableStyleId>{0580909A-7882-4EDC-A55A-CCE0AADC7F4B}</a:tableStyleId>
              </a:tblPr>
              <a:tblGrid>
                <a:gridCol w="1000125"/>
              </a:tblGrid>
              <a:tr h="228600">
                <a:tc>
                  <a:txBody>
                    <a:bodyPr/>
                    <a:lstStyle/>
                    <a:p>
                      <a:pPr indent="0" lvl="0" marL="0" marR="0" rtl="0" algn="l">
                        <a:spcBef>
                          <a:spcPts val="0"/>
                        </a:spcBef>
                        <a:spcAft>
                          <a:spcPts val="0"/>
                        </a:spcAft>
                        <a:buClr>
                          <a:schemeClr val="lt1"/>
                        </a:buClr>
                        <a:buSzPts val="1800"/>
                        <a:buFont typeface="Calibri"/>
                        <a:buNone/>
                      </a:pPr>
                      <a:r>
                        <a:rPr lang="es-CL" sz="1800"/>
                        <a:t>Next.js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249" name="Google Shape;249;p10"/>
          <p:cNvGraphicFramePr/>
          <p:nvPr/>
        </p:nvGraphicFramePr>
        <p:xfrm>
          <a:off x="3904039" y="5993114"/>
          <a:ext cx="3000000" cy="3000000"/>
        </p:xfrm>
        <a:graphic>
          <a:graphicData uri="http://schemas.openxmlformats.org/drawingml/2006/table">
            <a:tbl>
              <a:tblPr>
                <a:noFill/>
                <a:tableStyleId>{0580909A-7882-4EDC-A55A-CCE0AADC7F4B}</a:tableStyleId>
              </a:tblPr>
              <a:tblGrid>
                <a:gridCol w="1000125"/>
              </a:tblGrid>
              <a:tr h="228600">
                <a:tc>
                  <a:txBody>
                    <a:bodyPr/>
                    <a:lstStyle/>
                    <a:p>
                      <a:pPr indent="0" lvl="0" marL="0" marR="0" rtl="0" algn="l">
                        <a:spcBef>
                          <a:spcPts val="0"/>
                        </a:spcBef>
                        <a:spcAft>
                          <a:spcPts val="0"/>
                        </a:spcAft>
                        <a:buClr>
                          <a:schemeClr val="lt1"/>
                        </a:buClr>
                        <a:buSzPts val="1800"/>
                        <a:buFont typeface="Calibri"/>
                        <a:buNone/>
                      </a:pPr>
                      <a:r>
                        <a:rPr lang="es-CL" sz="1800"/>
                        <a:t>Radix UI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250" name="Google Shape;250;p10"/>
          <p:cNvGraphicFramePr/>
          <p:nvPr/>
        </p:nvGraphicFramePr>
        <p:xfrm>
          <a:off x="6886575" y="3371850"/>
          <a:ext cx="3000000" cy="3000000"/>
        </p:xfrm>
        <a:graphic>
          <a:graphicData uri="http://schemas.openxmlformats.org/drawingml/2006/table">
            <a:tbl>
              <a:tblPr>
                <a:noFill/>
                <a:tableStyleId>{0580909A-7882-4EDC-A55A-CCE0AADC7F4B}</a:tableStyleId>
              </a:tblPr>
              <a:tblGrid>
                <a:gridCol w="1457325"/>
              </a:tblGrid>
              <a:tr h="228600">
                <a:tc>
                  <a:txBody>
                    <a:bodyPr/>
                    <a:lstStyle/>
                    <a:p>
                      <a:pPr indent="0" lvl="0" marL="0" marR="0" rtl="0" algn="l">
                        <a:spcBef>
                          <a:spcPts val="0"/>
                        </a:spcBef>
                        <a:spcAft>
                          <a:spcPts val="0"/>
                        </a:spcAft>
                        <a:buClr>
                          <a:schemeClr val="lt1"/>
                        </a:buClr>
                        <a:buSzPts val="1800"/>
                        <a:buFont typeface="Calibri"/>
                        <a:buNone/>
                      </a:pPr>
                      <a:r>
                        <a:rPr lang="es-CL" sz="1800"/>
                        <a:t>PostgreSQL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251" name="Google Shape;251;p10"/>
          <p:cNvGraphicFramePr/>
          <p:nvPr/>
        </p:nvGraphicFramePr>
        <p:xfrm>
          <a:off x="4059710" y="3308724"/>
          <a:ext cx="3000000" cy="3000000"/>
        </p:xfrm>
        <a:graphic>
          <a:graphicData uri="http://schemas.openxmlformats.org/drawingml/2006/table">
            <a:tbl>
              <a:tblPr>
                <a:noFill/>
                <a:tableStyleId>{0580909A-7882-4EDC-A55A-CCE0AADC7F4B}</a:tableStyleId>
              </a:tblPr>
              <a:tblGrid>
                <a:gridCol w="1000125"/>
              </a:tblGrid>
              <a:tr h="228600">
                <a:tc>
                  <a:txBody>
                    <a:bodyPr/>
                    <a:lstStyle/>
                    <a:p>
                      <a:pPr indent="0" lvl="0" marL="0" marR="0" rtl="0" algn="l">
                        <a:spcBef>
                          <a:spcPts val="0"/>
                        </a:spcBef>
                        <a:spcAft>
                          <a:spcPts val="0"/>
                        </a:spcAft>
                        <a:buClr>
                          <a:schemeClr val="lt1"/>
                        </a:buClr>
                        <a:buSzPts val="1800"/>
                        <a:buFont typeface="Calibri"/>
                        <a:buNone/>
                      </a:pPr>
                      <a:r>
                        <a:rPr lang="es-CL" sz="1800"/>
                        <a:t>React</a:t>
                      </a:r>
                      <a:endParaRPr sz="1800"/>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252" name="Google Shape;252;p10"/>
          <p:cNvGraphicFramePr/>
          <p:nvPr/>
        </p:nvGraphicFramePr>
        <p:xfrm>
          <a:off x="725857" y="5993114"/>
          <a:ext cx="3000000" cy="3000000"/>
        </p:xfrm>
        <a:graphic>
          <a:graphicData uri="http://schemas.openxmlformats.org/drawingml/2006/table">
            <a:tbl>
              <a:tblPr>
                <a:noFill/>
                <a:tableStyleId>{0580909A-7882-4EDC-A55A-CCE0AADC7F4B}</a:tableStyleId>
              </a:tblPr>
              <a:tblGrid>
                <a:gridCol w="1000125"/>
              </a:tblGrid>
              <a:tr h="228600">
                <a:tc>
                  <a:txBody>
                    <a:bodyPr/>
                    <a:lstStyle/>
                    <a:p>
                      <a:pPr indent="0" lvl="0" marL="0" marR="0" rtl="0" algn="l">
                        <a:spcBef>
                          <a:spcPts val="0"/>
                        </a:spcBef>
                        <a:spcAft>
                          <a:spcPts val="0"/>
                        </a:spcAft>
                        <a:buClr>
                          <a:schemeClr val="lt1"/>
                        </a:buClr>
                        <a:buSzPts val="1800"/>
                        <a:buFont typeface="Calibri"/>
                        <a:buNone/>
                      </a:pPr>
                      <a:r>
                        <a:rPr lang="es-CL" sz="1800"/>
                        <a:t>Node.js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53" name="Google Shape;253;p10"/>
          <p:cNvPicPr preferRelativeResize="0"/>
          <p:nvPr/>
        </p:nvPicPr>
        <p:blipFill>
          <a:blip r:embed="rId5">
            <a:alphaModFix/>
          </a:blip>
          <a:stretch>
            <a:fillRect/>
          </a:stretch>
        </p:blipFill>
        <p:spPr>
          <a:xfrm>
            <a:off x="9062100" y="3737600"/>
            <a:ext cx="2628300" cy="2255526"/>
          </a:xfrm>
          <a:prstGeom prst="rect">
            <a:avLst/>
          </a:prstGeom>
          <a:noFill/>
          <a:ln>
            <a:noFill/>
          </a:ln>
        </p:spPr>
      </p:pic>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1"/>
          <p:cNvSpPr txBox="1"/>
          <p:nvPr/>
        </p:nvSpPr>
        <p:spPr>
          <a:xfrm>
            <a:off x="1" y="2707792"/>
            <a:ext cx="12191999" cy="144650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4400"/>
              <a:buFont typeface="Century Gothic"/>
              <a:buNone/>
            </a:pPr>
            <a:r>
              <a:rPr lang="es-CL" sz="4400">
                <a:solidFill>
                  <a:schemeClr val="lt1"/>
                </a:solidFill>
                <a:latin typeface="Century Gothic"/>
                <a:ea typeface="Century Gothic"/>
                <a:cs typeface="Century Gothic"/>
                <a:sym typeface="Century Gothic"/>
              </a:rPr>
              <a:t>DEMOSTRACIÓN DEL RESULTADO DEL PROYECTO</a:t>
            </a:r>
            <a:endParaRPr sz="1800">
              <a:solidFill>
                <a:schemeClr val="lt1"/>
              </a:solidFill>
              <a:latin typeface="Calibri"/>
              <a:ea typeface="Calibri"/>
              <a:cs typeface="Calibri"/>
              <a:sym typeface="Calibri"/>
            </a:endParaRPr>
          </a:p>
        </p:txBody>
      </p:sp>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2"/>
          <p:cNvSpPr txBox="1"/>
          <p:nvPr/>
        </p:nvSpPr>
        <p:spPr>
          <a:xfrm>
            <a:off x="-3" y="300336"/>
            <a:ext cx="9375600" cy="144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4400"/>
              <a:buFont typeface="Century Gothic"/>
              <a:buNone/>
            </a:pPr>
            <a:r>
              <a:rPr lang="es-CL" sz="4400">
                <a:solidFill>
                  <a:schemeClr val="lt1"/>
                </a:solidFill>
                <a:latin typeface="Century Gothic"/>
                <a:ea typeface="Century Gothic"/>
                <a:cs typeface="Century Gothic"/>
                <a:sym typeface="Century Gothic"/>
              </a:rPr>
              <a:t>Resultados obtenidos para el usuario</a:t>
            </a:r>
            <a:endParaRPr sz="1800">
              <a:solidFill>
                <a:schemeClr val="lt1"/>
              </a:solidFill>
              <a:latin typeface="Calibri"/>
              <a:ea typeface="Calibri"/>
              <a:cs typeface="Calibri"/>
              <a:sym typeface="Calibri"/>
            </a:endParaRPr>
          </a:p>
        </p:txBody>
      </p:sp>
      <p:sp>
        <p:nvSpPr>
          <p:cNvPr id="264" name="Google Shape;264;p12"/>
          <p:cNvSpPr/>
          <p:nvPr/>
        </p:nvSpPr>
        <p:spPr>
          <a:xfrm>
            <a:off x="72274" y="1933550"/>
            <a:ext cx="7381800" cy="4604400"/>
          </a:xfrm>
          <a:prstGeom prst="roundRect">
            <a:avLst>
              <a:gd fmla="val 16667" name="adj"/>
            </a:avLst>
          </a:prstGeom>
          <a:solidFill>
            <a:schemeClr val="lt1"/>
          </a:solid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342900" lvl="0" marL="457200" rtl="0" algn="l">
              <a:spcBef>
                <a:spcPts val="0"/>
              </a:spcBef>
              <a:spcAft>
                <a:spcPts val="0"/>
              </a:spcAft>
              <a:buClr>
                <a:schemeClr val="dk1"/>
              </a:buClr>
              <a:buSzPts val="1800"/>
              <a:buChar char="•"/>
            </a:pPr>
            <a:r>
              <a:rPr lang="es-CL" sz="1800">
                <a:solidFill>
                  <a:schemeClr val="dk1"/>
                </a:solidFill>
                <a:latin typeface="Century Gothic"/>
                <a:ea typeface="Century Gothic"/>
                <a:cs typeface="Century Gothic"/>
                <a:sym typeface="Century Gothic"/>
              </a:rPr>
              <a:t>Clarifi logró implementar una aplicación web y móvil intuitiva que permite a los usuarios registrar, organizar y visualizar sus finanzas de manera simple y rápida.</a:t>
            </a:r>
            <a:endParaRPr sz="1800">
              <a:solidFill>
                <a:schemeClr val="dk1"/>
              </a:solidFill>
              <a:latin typeface="Century Gothic"/>
              <a:ea typeface="Century Gothic"/>
              <a:cs typeface="Century Gothic"/>
              <a:sym typeface="Century Gothic"/>
            </a:endParaRPr>
          </a:p>
          <a:p>
            <a:pPr indent="-342900" lvl="0" marL="457200" rtl="0" algn="l">
              <a:spcBef>
                <a:spcPts val="0"/>
              </a:spcBef>
              <a:spcAft>
                <a:spcPts val="0"/>
              </a:spcAft>
              <a:buClr>
                <a:schemeClr val="dk1"/>
              </a:buClr>
              <a:buSzPts val="1800"/>
              <a:buChar char="•"/>
            </a:pPr>
            <a:r>
              <a:rPr lang="es-CL" sz="1800">
                <a:solidFill>
                  <a:schemeClr val="dk1"/>
                </a:solidFill>
                <a:latin typeface="Century Gothic"/>
                <a:ea typeface="Century Gothic"/>
                <a:cs typeface="Century Gothic"/>
                <a:sym typeface="Century Gothic"/>
              </a:rPr>
              <a:t>El sistema entrega reportes claros, gráficos dinámicos y una experiencia fluida.</a:t>
            </a:r>
            <a:endParaRPr sz="1800">
              <a:solidFill>
                <a:schemeClr val="dk1"/>
              </a:solidFill>
              <a:latin typeface="Century Gothic"/>
              <a:ea typeface="Century Gothic"/>
              <a:cs typeface="Century Gothic"/>
              <a:sym typeface="Century Gothic"/>
            </a:endParaRPr>
          </a:p>
          <a:p>
            <a:pPr indent="-342900" lvl="0" marL="457200" rtl="0" algn="l">
              <a:spcBef>
                <a:spcPts val="0"/>
              </a:spcBef>
              <a:spcAft>
                <a:spcPts val="0"/>
              </a:spcAft>
              <a:buClr>
                <a:schemeClr val="dk1"/>
              </a:buClr>
              <a:buSzPts val="1800"/>
              <a:buChar char="•"/>
            </a:pPr>
            <a:r>
              <a:rPr lang="es-CL" sz="1800">
                <a:solidFill>
                  <a:schemeClr val="dk1"/>
                </a:solidFill>
                <a:latin typeface="Century Gothic"/>
                <a:ea typeface="Century Gothic"/>
                <a:cs typeface="Century Gothic"/>
                <a:sym typeface="Century Gothic"/>
              </a:rPr>
              <a:t>La arquitectura desarrollada asegura buen rendimiento, seguridad y escalabilidad.</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s-CL" sz="1800">
                <a:solidFill>
                  <a:schemeClr val="dk1"/>
                </a:solidFill>
                <a:latin typeface="Century Gothic"/>
                <a:ea typeface="Century Gothic"/>
                <a:cs typeface="Century Gothic"/>
                <a:sym typeface="Century Gothic"/>
              </a:rPr>
              <a:t>El resultado es una herramienta útil, moderna y fácil de usar para la gestión financiera personal.</a:t>
            </a:r>
            <a:endParaRPr sz="1800">
              <a:solidFill>
                <a:schemeClr val="dk1"/>
              </a:solidFill>
              <a:latin typeface="Century Gothic"/>
              <a:ea typeface="Century Gothic"/>
              <a:cs typeface="Century Gothic"/>
              <a:sym typeface="Century Gothic"/>
            </a:endParaRPr>
          </a:p>
        </p:txBody>
      </p:sp>
      <p:pic>
        <p:nvPicPr>
          <p:cNvPr id="265" name="Google Shape;265;p12"/>
          <p:cNvPicPr preferRelativeResize="0"/>
          <p:nvPr/>
        </p:nvPicPr>
        <p:blipFill>
          <a:blip r:embed="rId3">
            <a:alphaModFix/>
          </a:blip>
          <a:stretch>
            <a:fillRect/>
          </a:stretch>
        </p:blipFill>
        <p:spPr>
          <a:xfrm>
            <a:off x="6724225" y="1714270"/>
            <a:ext cx="6615880" cy="4958375"/>
          </a:xfrm>
          <a:prstGeom prst="rect">
            <a:avLst/>
          </a:prstGeom>
          <a:noFill/>
          <a:ln>
            <a:noFill/>
          </a:ln>
        </p:spPr>
      </p:pic>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a419f07b38_1_1"/>
          <p:cNvSpPr txBox="1"/>
          <p:nvPr/>
        </p:nvSpPr>
        <p:spPr>
          <a:xfrm>
            <a:off x="-3" y="174286"/>
            <a:ext cx="9375600" cy="144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4400"/>
              <a:buFont typeface="Century Gothic"/>
              <a:buNone/>
            </a:pPr>
            <a:r>
              <a:rPr lang="es-CL" sz="4400">
                <a:solidFill>
                  <a:schemeClr val="lt1"/>
                </a:solidFill>
                <a:latin typeface="Century Gothic"/>
                <a:ea typeface="Century Gothic"/>
                <a:cs typeface="Century Gothic"/>
                <a:sym typeface="Century Gothic"/>
              </a:rPr>
              <a:t>Resultados obtenidos como desarrolladores </a:t>
            </a:r>
            <a:endParaRPr sz="1800">
              <a:solidFill>
                <a:schemeClr val="lt1"/>
              </a:solidFill>
              <a:latin typeface="Calibri"/>
              <a:ea typeface="Calibri"/>
              <a:cs typeface="Calibri"/>
              <a:sym typeface="Calibri"/>
            </a:endParaRPr>
          </a:p>
        </p:txBody>
      </p:sp>
      <p:sp>
        <p:nvSpPr>
          <p:cNvPr id="271" name="Google Shape;271;g3a419f07b38_1_1"/>
          <p:cNvSpPr/>
          <p:nvPr/>
        </p:nvSpPr>
        <p:spPr>
          <a:xfrm>
            <a:off x="72274" y="1933550"/>
            <a:ext cx="7381800" cy="4604400"/>
          </a:xfrm>
          <a:prstGeom prst="roundRect">
            <a:avLst>
              <a:gd fmla="val 16667" name="adj"/>
            </a:avLst>
          </a:prstGeom>
          <a:solidFill>
            <a:schemeClr val="lt1"/>
          </a:solid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800"/>
              <a:buFont typeface="Arial"/>
              <a:buChar char="•"/>
            </a:pPr>
            <a:r>
              <a:rPr lang="es-CL" sz="1800">
                <a:solidFill>
                  <a:schemeClr val="dk1"/>
                </a:solidFill>
                <a:latin typeface="Century Gothic"/>
                <a:ea typeface="Century Gothic"/>
                <a:cs typeface="Century Gothic"/>
                <a:sym typeface="Century Gothic"/>
              </a:rPr>
              <a:t>Desarrollo completo de una aplicación web funcional para gestión financiera </a:t>
            </a:r>
            <a:endParaRPr/>
          </a:p>
          <a:p>
            <a:pPr indent="-285750" lvl="0" marL="285750" marR="0" rtl="0" algn="l">
              <a:spcBef>
                <a:spcPts val="0"/>
              </a:spcBef>
              <a:spcAft>
                <a:spcPts val="0"/>
              </a:spcAft>
              <a:buClr>
                <a:schemeClr val="dk1"/>
              </a:buClr>
              <a:buSzPts val="1800"/>
              <a:buFont typeface="Arial"/>
              <a:buChar char="•"/>
            </a:pPr>
            <a:r>
              <a:rPr lang="es-CL" sz="1800">
                <a:solidFill>
                  <a:schemeClr val="dk1"/>
                </a:solidFill>
                <a:latin typeface="Century Gothic"/>
                <a:ea typeface="Century Gothic"/>
                <a:cs typeface="Century Gothic"/>
                <a:sym typeface="Century Gothic"/>
              </a:rPr>
              <a:t>Sistema de registro de transacciones con interfaz intuitiva</a:t>
            </a:r>
            <a:endParaRPr/>
          </a:p>
          <a:p>
            <a:pPr indent="-285750" lvl="0" marL="285750" marR="0" rtl="0" algn="l">
              <a:spcBef>
                <a:spcPts val="0"/>
              </a:spcBef>
              <a:spcAft>
                <a:spcPts val="0"/>
              </a:spcAft>
              <a:buClr>
                <a:schemeClr val="dk1"/>
              </a:buClr>
              <a:buSzPts val="1800"/>
              <a:buFont typeface="Arial"/>
              <a:buChar char="•"/>
            </a:pPr>
            <a:r>
              <a:rPr lang="es-CL" sz="1800">
                <a:solidFill>
                  <a:schemeClr val="dk1"/>
                </a:solidFill>
                <a:latin typeface="Century Gothic"/>
                <a:ea typeface="Century Gothic"/>
                <a:cs typeface="Century Gothic"/>
                <a:sym typeface="Century Gothic"/>
              </a:rPr>
              <a:t>Implementación de base de datos PosgreSQL con estructura optimizada </a:t>
            </a:r>
            <a:endParaRPr/>
          </a:p>
          <a:p>
            <a:pPr indent="-285750" lvl="0" marL="285750" marR="0" rtl="0" algn="l">
              <a:spcBef>
                <a:spcPts val="0"/>
              </a:spcBef>
              <a:spcAft>
                <a:spcPts val="0"/>
              </a:spcAft>
              <a:buClr>
                <a:schemeClr val="dk1"/>
              </a:buClr>
              <a:buSzPts val="1800"/>
              <a:buFont typeface="Arial"/>
              <a:buChar char="•"/>
            </a:pPr>
            <a:r>
              <a:rPr lang="es-CL" sz="1800">
                <a:solidFill>
                  <a:schemeClr val="dk1"/>
                </a:solidFill>
                <a:latin typeface="Century Gothic"/>
                <a:ea typeface="Century Gothic"/>
                <a:cs typeface="Century Gothic"/>
                <a:sym typeface="Century Gothic"/>
              </a:rPr>
              <a:t>Integración de reportes visuales mediante Rechart</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s-CL" sz="1800">
                <a:solidFill>
                  <a:schemeClr val="dk1"/>
                </a:solidFill>
                <a:latin typeface="Century Gothic"/>
                <a:ea typeface="Century Gothic"/>
                <a:cs typeface="Century Gothic"/>
                <a:sym typeface="Century Gothic"/>
              </a:rPr>
              <a:t>Sistema de autenticación con verificación por correo</a:t>
            </a:r>
            <a:endParaRPr/>
          </a:p>
          <a:p>
            <a:pPr indent="-285750" lvl="0" marL="285750" marR="0" rtl="0" algn="l">
              <a:spcBef>
                <a:spcPts val="0"/>
              </a:spcBef>
              <a:spcAft>
                <a:spcPts val="0"/>
              </a:spcAft>
              <a:buClr>
                <a:schemeClr val="dk1"/>
              </a:buClr>
              <a:buSzPts val="1800"/>
              <a:buFont typeface="Arial"/>
              <a:buChar char="•"/>
            </a:pPr>
            <a:r>
              <a:rPr lang="es-CL" sz="1800">
                <a:solidFill>
                  <a:schemeClr val="dk1"/>
                </a:solidFill>
                <a:latin typeface="Century Gothic"/>
                <a:ea typeface="Century Gothic"/>
                <a:cs typeface="Century Gothic"/>
                <a:sym typeface="Century Gothic"/>
              </a:rPr>
              <a:t>Interfaz responsive creada con Radix UI y Next.js</a:t>
            </a:r>
            <a:endParaRPr/>
          </a:p>
          <a:p>
            <a:pPr indent="-285750" lvl="0" marL="285750" marR="0" rtl="0" algn="l">
              <a:spcBef>
                <a:spcPts val="0"/>
              </a:spcBef>
              <a:spcAft>
                <a:spcPts val="0"/>
              </a:spcAft>
              <a:buClr>
                <a:schemeClr val="dk1"/>
              </a:buClr>
              <a:buSzPts val="1800"/>
              <a:buFont typeface="Arial"/>
              <a:buChar char="•"/>
            </a:pPr>
            <a:r>
              <a:rPr lang="es-CL" sz="1800">
                <a:solidFill>
                  <a:schemeClr val="dk1"/>
                </a:solidFill>
                <a:latin typeface="Century Gothic"/>
                <a:ea typeface="Century Gothic"/>
                <a:cs typeface="Century Gothic"/>
                <a:sym typeface="Century Gothic"/>
              </a:rPr>
              <a:t>Proyecto ejecutable desde múltiples dispositivos</a:t>
            </a:r>
            <a:endParaRPr sz="1800">
              <a:solidFill>
                <a:schemeClr val="dk1"/>
              </a:solidFill>
              <a:latin typeface="Century Gothic"/>
              <a:ea typeface="Century Gothic"/>
              <a:cs typeface="Century Gothic"/>
              <a:sym typeface="Century Gothic"/>
            </a:endParaRPr>
          </a:p>
        </p:txBody>
      </p:sp>
      <p:pic>
        <p:nvPicPr>
          <p:cNvPr descr="Resultados - Iconos gratis de negocios y finanzas" id="272" name="Google Shape;272;g3a419f07b38_1_1"/>
          <p:cNvPicPr preferRelativeResize="0"/>
          <p:nvPr/>
        </p:nvPicPr>
        <p:blipFill rotWithShape="1">
          <a:blip r:embed="rId3">
            <a:alphaModFix/>
          </a:blip>
          <a:srcRect b="0" l="0" r="0" t="0"/>
          <a:stretch/>
        </p:blipFill>
        <p:spPr>
          <a:xfrm>
            <a:off x="7212269" y="1661160"/>
            <a:ext cx="4979731" cy="4876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6" name="Shape 276"/>
        <p:cNvGrpSpPr/>
        <p:nvPr/>
      </p:nvGrpSpPr>
      <p:grpSpPr>
        <a:xfrm>
          <a:off x="0" y="0"/>
          <a:ext cx="0" cy="0"/>
          <a:chOff x="0" y="0"/>
          <a:chExt cx="0" cy="0"/>
        </a:xfrm>
      </p:grpSpPr>
      <p:pic>
        <p:nvPicPr>
          <p:cNvPr id="277" name="Google Shape;277;p13"/>
          <p:cNvPicPr preferRelativeResize="0"/>
          <p:nvPr/>
        </p:nvPicPr>
        <p:blipFill rotWithShape="1">
          <a:blip r:embed="rId4">
            <a:alphaModFix/>
          </a:blip>
          <a:srcRect b="0" l="0" r="0" t="0"/>
          <a:stretch/>
        </p:blipFill>
        <p:spPr>
          <a:xfrm>
            <a:off x="0" y="0"/>
            <a:ext cx="12188825" cy="6856214"/>
          </a:xfrm>
          <a:prstGeom prst="rect">
            <a:avLst/>
          </a:prstGeom>
          <a:noFill/>
          <a:ln>
            <a:noFill/>
          </a:ln>
        </p:spPr>
      </p:pic>
      <p:sp>
        <p:nvSpPr>
          <p:cNvPr id="278" name="Google Shape;278;p13"/>
          <p:cNvSpPr txBox="1"/>
          <p:nvPr/>
        </p:nvSpPr>
        <p:spPr>
          <a:xfrm>
            <a:off x="5476876" y="857250"/>
            <a:ext cx="5340350" cy="120861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lang="es-CL" sz="2500" cap="none">
                <a:solidFill>
                  <a:schemeClr val="lt1"/>
                </a:solidFill>
                <a:latin typeface="Calibri"/>
                <a:ea typeface="Calibri"/>
                <a:cs typeface="Calibri"/>
                <a:sym typeface="Calibri"/>
              </a:rPr>
              <a:t>OBSTÁCULOS PRESENTADOS DURANTE EL DESARROLLO</a:t>
            </a:r>
            <a:endParaRPr sz="2500" cap="none">
              <a:solidFill>
                <a:schemeClr val="lt1"/>
              </a:solidFill>
              <a:latin typeface="Calibri"/>
              <a:ea typeface="Calibri"/>
              <a:cs typeface="Calibri"/>
              <a:sym typeface="Calibri"/>
            </a:endParaRPr>
          </a:p>
        </p:txBody>
      </p:sp>
      <p:pic>
        <p:nvPicPr>
          <p:cNvPr descr="Alcance - Iconos gratis de negocios y finanzas" id="279" name="Google Shape;279;p13"/>
          <p:cNvPicPr preferRelativeResize="0"/>
          <p:nvPr/>
        </p:nvPicPr>
        <p:blipFill rotWithShape="1">
          <a:blip r:embed="rId5">
            <a:alphaModFix/>
          </a:blip>
          <a:srcRect b="0" l="0" r="0" t="0"/>
          <a:stretch/>
        </p:blipFill>
        <p:spPr>
          <a:xfrm>
            <a:off x="695325" y="2325022"/>
            <a:ext cx="3810000" cy="3770977"/>
          </a:xfrm>
          <a:prstGeom prst="roundRect">
            <a:avLst>
              <a:gd fmla="val 6267"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280" name="Google Shape;280;p13"/>
          <p:cNvSpPr/>
          <p:nvPr/>
        </p:nvSpPr>
        <p:spPr>
          <a:xfrm>
            <a:off x="5476876" y="1914525"/>
            <a:ext cx="5340349" cy="3876675"/>
          </a:xfrm>
          <a:prstGeom prst="roundRect">
            <a:avLst>
              <a:gd fmla="val 16667" name="adj"/>
            </a:avLst>
          </a:prstGeom>
          <a:noFill/>
          <a:ln>
            <a:noFill/>
          </a:ln>
        </p:spPr>
        <p:txBody>
          <a:bodyPr anchorCtr="0" anchor="ctr" bIns="45700" lIns="91425" spcFirstLastPara="1" rIns="91425" wrap="square" tIns="45700">
            <a:normAutofit/>
          </a:bodyPr>
          <a:lstStyle/>
          <a:p>
            <a:pPr indent="-292100" lvl="0" marL="285750" marR="0" rtl="0" algn="l">
              <a:lnSpc>
                <a:spcPct val="90000"/>
              </a:lnSpc>
              <a:spcBef>
                <a:spcPts val="0"/>
              </a:spcBef>
              <a:spcAft>
                <a:spcPts val="0"/>
              </a:spcAft>
              <a:buClr>
                <a:schemeClr val="lt1"/>
              </a:buClr>
              <a:buSzPts val="1600"/>
              <a:buFont typeface="Arial"/>
              <a:buChar char="•"/>
            </a:pPr>
            <a:r>
              <a:rPr lang="es-CL" sz="1600">
                <a:solidFill>
                  <a:schemeClr val="lt1"/>
                </a:solidFill>
                <a:latin typeface="Calibri"/>
                <a:ea typeface="Calibri"/>
                <a:cs typeface="Calibri"/>
                <a:sym typeface="Calibri"/>
              </a:rPr>
              <a:t>Problemas iniciales con compatibilidad en versiones de Node.js</a:t>
            </a:r>
            <a:endParaRPr sz="1600"/>
          </a:p>
          <a:p>
            <a:pPr indent="-190500" lvl="0" marL="285750" marR="0" rtl="0" algn="l">
              <a:lnSpc>
                <a:spcPct val="90000"/>
              </a:lnSpc>
              <a:spcBef>
                <a:spcPts val="1000"/>
              </a:spcBef>
              <a:spcAft>
                <a:spcPts val="0"/>
              </a:spcAft>
              <a:buClr>
                <a:schemeClr val="lt1"/>
              </a:buClr>
              <a:buSzPts val="1500"/>
              <a:buFont typeface="Arial"/>
              <a:buNone/>
            </a:pPr>
            <a:r>
              <a:t/>
            </a:r>
            <a:endParaRPr sz="1600">
              <a:solidFill>
                <a:schemeClr val="lt1"/>
              </a:solidFill>
              <a:latin typeface="Calibri"/>
              <a:ea typeface="Calibri"/>
              <a:cs typeface="Calibri"/>
              <a:sym typeface="Calibri"/>
            </a:endParaRPr>
          </a:p>
          <a:p>
            <a:pPr indent="-292100" lvl="0" marL="285750" marR="0" rtl="0" algn="l">
              <a:lnSpc>
                <a:spcPct val="90000"/>
              </a:lnSpc>
              <a:spcBef>
                <a:spcPts val="1000"/>
              </a:spcBef>
              <a:spcAft>
                <a:spcPts val="0"/>
              </a:spcAft>
              <a:buClr>
                <a:schemeClr val="lt1"/>
              </a:buClr>
              <a:buSzPts val="1600"/>
              <a:buFont typeface="Arial"/>
              <a:buChar char="•"/>
            </a:pPr>
            <a:r>
              <a:rPr lang="es-CL" sz="1600">
                <a:solidFill>
                  <a:schemeClr val="lt1"/>
                </a:solidFill>
                <a:latin typeface="Calibri"/>
                <a:ea typeface="Calibri"/>
                <a:cs typeface="Calibri"/>
                <a:sym typeface="Calibri"/>
              </a:rPr>
              <a:t>Configuración de PostgreSQL en diferentes equipos</a:t>
            </a:r>
            <a:endParaRPr sz="1600">
              <a:solidFill>
                <a:schemeClr val="lt1"/>
              </a:solidFill>
              <a:latin typeface="Calibri"/>
              <a:ea typeface="Calibri"/>
              <a:cs typeface="Calibri"/>
              <a:sym typeface="Calibri"/>
            </a:endParaRPr>
          </a:p>
          <a:p>
            <a:pPr indent="-190500" lvl="0" marL="285750" marR="0" rtl="0" algn="l">
              <a:lnSpc>
                <a:spcPct val="90000"/>
              </a:lnSpc>
              <a:spcBef>
                <a:spcPts val="1000"/>
              </a:spcBef>
              <a:spcAft>
                <a:spcPts val="0"/>
              </a:spcAft>
              <a:buClr>
                <a:schemeClr val="lt1"/>
              </a:buClr>
              <a:buSzPts val="1500"/>
              <a:buFont typeface="Arial"/>
              <a:buNone/>
            </a:pPr>
            <a:r>
              <a:t/>
            </a:r>
            <a:endParaRPr sz="1600">
              <a:solidFill>
                <a:schemeClr val="lt1"/>
              </a:solidFill>
              <a:latin typeface="Calibri"/>
              <a:ea typeface="Calibri"/>
              <a:cs typeface="Calibri"/>
              <a:sym typeface="Calibri"/>
            </a:endParaRPr>
          </a:p>
          <a:p>
            <a:pPr indent="-330200" lvl="0" marL="457200" rtl="0" algn="l">
              <a:lnSpc>
                <a:spcPct val="90000"/>
              </a:lnSpc>
              <a:spcBef>
                <a:spcPts val="1000"/>
              </a:spcBef>
              <a:spcAft>
                <a:spcPts val="0"/>
              </a:spcAft>
              <a:buClr>
                <a:schemeClr val="lt1"/>
              </a:buClr>
              <a:buSzPts val="1600"/>
              <a:buChar char="•"/>
            </a:pPr>
            <a:r>
              <a:rPr lang="es-CL" sz="1600">
                <a:solidFill>
                  <a:schemeClr val="lt1"/>
                </a:solidFill>
                <a:latin typeface="Calibri"/>
                <a:ea typeface="Calibri"/>
                <a:cs typeface="Calibri"/>
                <a:sym typeface="Calibri"/>
              </a:rPr>
              <a:t>Ajustes en la red local para probar la app en dispositivos móviles</a:t>
            </a:r>
            <a:endParaRPr sz="1600">
              <a:solidFill>
                <a:schemeClr val="lt1"/>
              </a:solidFill>
              <a:latin typeface="Calibri"/>
              <a:ea typeface="Calibri"/>
              <a:cs typeface="Calibri"/>
              <a:sym typeface="Calibri"/>
            </a:endParaRPr>
          </a:p>
          <a:p>
            <a:pPr indent="-190500" lvl="0" marL="285750" marR="0" rtl="0" algn="l">
              <a:lnSpc>
                <a:spcPct val="90000"/>
              </a:lnSpc>
              <a:spcBef>
                <a:spcPts val="1000"/>
              </a:spcBef>
              <a:spcAft>
                <a:spcPts val="0"/>
              </a:spcAft>
              <a:buClr>
                <a:schemeClr val="lt1"/>
              </a:buClr>
              <a:buSzPts val="1500"/>
              <a:buFont typeface="Arial"/>
              <a:buNone/>
            </a:pPr>
            <a:r>
              <a:t/>
            </a:r>
            <a:endParaRPr sz="1600">
              <a:solidFill>
                <a:schemeClr val="lt1"/>
              </a:solidFill>
              <a:latin typeface="Calibri"/>
              <a:ea typeface="Calibri"/>
              <a:cs typeface="Calibri"/>
              <a:sym typeface="Calibri"/>
            </a:endParaRPr>
          </a:p>
          <a:p>
            <a:pPr indent="-292100" lvl="0" marL="285750" marR="0" rtl="0" algn="l">
              <a:lnSpc>
                <a:spcPct val="90000"/>
              </a:lnSpc>
              <a:spcBef>
                <a:spcPts val="1000"/>
              </a:spcBef>
              <a:spcAft>
                <a:spcPts val="1000"/>
              </a:spcAft>
              <a:buClr>
                <a:schemeClr val="lt1"/>
              </a:buClr>
              <a:buSzPts val="1600"/>
              <a:buFont typeface="Arial"/>
              <a:buChar char="•"/>
            </a:pPr>
            <a:r>
              <a:rPr lang="es-CL" sz="1600">
                <a:solidFill>
                  <a:schemeClr val="lt1"/>
                </a:solidFill>
                <a:latin typeface="Calibri"/>
                <a:ea typeface="Calibri"/>
                <a:cs typeface="Calibri"/>
                <a:sym typeface="Calibri"/>
              </a:rPr>
              <a:t>Manejo de estados y actualización de gráficos en tiempo real</a:t>
            </a:r>
            <a:endParaRPr sz="1600"/>
          </a:p>
        </p:txBody>
      </p:sp>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descr="EscuelaIT Duoc UC - Escuela de Informática y Telecomunicaciones Duoc UC - Duoc  UC | LinkedIn" id="285" name="Google Shape;285;p14"/>
          <p:cNvPicPr preferRelativeResize="0"/>
          <p:nvPr/>
        </p:nvPicPr>
        <p:blipFill rotWithShape="1">
          <a:blip r:embed="rId3">
            <a:alphaModFix/>
          </a:blip>
          <a:srcRect b="0" l="0" r="0" t="0"/>
          <a:stretch/>
        </p:blipFill>
        <p:spPr>
          <a:xfrm>
            <a:off x="9050602" y="0"/>
            <a:ext cx="3141406" cy="785352"/>
          </a:xfrm>
          <a:prstGeom prst="rect">
            <a:avLst/>
          </a:prstGeom>
          <a:noFill/>
          <a:ln>
            <a:noFill/>
          </a:ln>
        </p:spPr>
      </p:pic>
      <p:sp>
        <p:nvSpPr>
          <p:cNvPr id="286" name="Google Shape;286;p14"/>
          <p:cNvSpPr txBox="1"/>
          <p:nvPr/>
        </p:nvSpPr>
        <p:spPr>
          <a:xfrm>
            <a:off x="-229275" y="3134004"/>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4400"/>
              <a:buFont typeface="Century Gothic"/>
              <a:buNone/>
            </a:pPr>
            <a:r>
              <a:rPr lang="es-CL" sz="4400">
                <a:solidFill>
                  <a:schemeClr val="lt1"/>
                </a:solidFill>
                <a:latin typeface="Century Gothic"/>
                <a:ea typeface="Century Gothic"/>
                <a:cs typeface="Century Gothic"/>
                <a:sym typeface="Century Gothic"/>
              </a:rPr>
              <a:t>PREGUNTAS DE LA COMISIÓN</a:t>
            </a:r>
            <a:endParaRPr sz="1800">
              <a:solidFill>
                <a:schemeClr val="lt1"/>
              </a:solidFill>
              <a:latin typeface="Calibri"/>
              <a:ea typeface="Calibri"/>
              <a:cs typeface="Calibri"/>
              <a:sym typeface="Calibri"/>
            </a:endParaRPr>
          </a:p>
        </p:txBody>
      </p:sp>
    </p:spTree>
  </p:cSld>
  <p:clrMapOvr>
    <a:masterClrMapping/>
  </p:clrMapOvr>
  <p:transition spd="slow">
    <p:wipe dir="l"/>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ac84433e37_0_0"/>
          <p:cNvSpPr txBox="1"/>
          <p:nvPr/>
        </p:nvSpPr>
        <p:spPr>
          <a:xfrm>
            <a:off x="0" y="0"/>
            <a:ext cx="12192000" cy="731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CL" sz="1200">
                <a:solidFill>
                  <a:schemeClr val="dk1"/>
                </a:solidFill>
              </a:rPr>
              <a:t>1. ¿Cuál es la arquitectura general de Clarifi?</a:t>
            </a:r>
            <a:endParaRPr b="1" sz="1200">
              <a:solidFill>
                <a:schemeClr val="dk1"/>
              </a:solidFill>
            </a:endParaRPr>
          </a:p>
          <a:p>
            <a:pPr indent="0" lvl="0" marL="0" rtl="0" algn="l">
              <a:lnSpc>
                <a:spcPct val="115000"/>
              </a:lnSpc>
              <a:spcBef>
                <a:spcPts val="1200"/>
              </a:spcBef>
              <a:spcAft>
                <a:spcPts val="0"/>
              </a:spcAft>
              <a:buNone/>
            </a:pPr>
            <a:r>
              <a:rPr lang="es-CL" sz="1000">
                <a:solidFill>
                  <a:schemeClr val="lt1"/>
                </a:solidFill>
              </a:rPr>
              <a:t>La arquitectura es </a:t>
            </a:r>
            <a:r>
              <a:rPr b="1" lang="es-CL" sz="1000">
                <a:solidFill>
                  <a:schemeClr val="lt1"/>
                </a:solidFill>
              </a:rPr>
              <a:t>cliente-servidor</a:t>
            </a:r>
            <a:r>
              <a:rPr lang="es-CL" sz="1000">
                <a:solidFill>
                  <a:schemeClr val="lt1"/>
                </a:solidFill>
              </a:rPr>
              <a:t>. El frontend está en </a:t>
            </a:r>
            <a:r>
              <a:rPr b="1" lang="es-CL" sz="1000">
                <a:solidFill>
                  <a:schemeClr val="lt1"/>
                </a:solidFill>
              </a:rPr>
              <a:t>Next.js</a:t>
            </a:r>
            <a:r>
              <a:rPr lang="es-CL" sz="1000">
                <a:solidFill>
                  <a:schemeClr val="lt1"/>
                </a:solidFill>
              </a:rPr>
              <a:t> y se comunica con una API interna en </a:t>
            </a:r>
            <a:r>
              <a:rPr lang="es-CL" sz="1000">
                <a:solidFill>
                  <a:schemeClr val="lt1"/>
                </a:solidFill>
                <a:latin typeface="Roboto Mono"/>
                <a:ea typeface="Roboto Mono"/>
                <a:cs typeface="Roboto Mono"/>
                <a:sym typeface="Roboto Mono"/>
              </a:rPr>
              <a:t>/api/*</a:t>
            </a:r>
            <a:r>
              <a:rPr lang="es-CL" sz="1000">
                <a:solidFill>
                  <a:schemeClr val="lt1"/>
                </a:solidFill>
              </a:rPr>
              <a:t> que funciona como backend. La base de datos es </a:t>
            </a:r>
            <a:r>
              <a:rPr b="1" lang="es-CL" sz="1000">
                <a:solidFill>
                  <a:schemeClr val="lt1"/>
                </a:solidFill>
              </a:rPr>
              <a:t>PostgreSQL</a:t>
            </a:r>
            <a:r>
              <a:rPr lang="es-CL" sz="1000">
                <a:solidFill>
                  <a:schemeClr val="lt1"/>
                </a:solidFill>
              </a:rPr>
              <a:t>, y la aplicación móvil utiliza </a:t>
            </a:r>
            <a:r>
              <a:rPr b="1" lang="es-CL" sz="1000">
                <a:solidFill>
                  <a:schemeClr val="lt1"/>
                </a:solidFill>
              </a:rPr>
              <a:t>Capacitor</a:t>
            </a:r>
            <a:r>
              <a:rPr lang="es-CL" sz="1000">
                <a:solidFill>
                  <a:schemeClr val="lt1"/>
                </a:solidFill>
              </a:rPr>
              <a:t> para ejecutar Clarifi como app Android apuntando al mismo backend.</a:t>
            </a:r>
            <a:endParaRPr sz="1000">
              <a:solidFill>
                <a:schemeClr val="lt1"/>
              </a:solidFill>
            </a:endParaRPr>
          </a:p>
          <a:p>
            <a:pPr indent="0" lvl="0" marL="0" rtl="0" algn="l">
              <a:lnSpc>
                <a:spcPct val="115000"/>
              </a:lnSpc>
              <a:spcBef>
                <a:spcPts val="1400"/>
              </a:spcBef>
              <a:spcAft>
                <a:spcPts val="0"/>
              </a:spcAft>
              <a:buNone/>
            </a:pPr>
            <a:r>
              <a:rPr b="1" lang="es-CL" sz="1200">
                <a:solidFill>
                  <a:schemeClr val="dk1"/>
                </a:solidFill>
              </a:rPr>
              <a:t>2. ¿Por qué usamos Next.js para el frontend?</a:t>
            </a:r>
            <a:endParaRPr b="1" sz="1200">
              <a:solidFill>
                <a:schemeClr val="dk1"/>
              </a:solidFill>
            </a:endParaRPr>
          </a:p>
          <a:p>
            <a:pPr indent="0" lvl="0" marL="0" rtl="0" algn="l">
              <a:lnSpc>
                <a:spcPct val="115000"/>
              </a:lnSpc>
              <a:spcBef>
                <a:spcPts val="1200"/>
              </a:spcBef>
              <a:spcAft>
                <a:spcPts val="0"/>
              </a:spcAft>
              <a:buNone/>
            </a:pPr>
            <a:r>
              <a:rPr lang="es-CL" sz="1000">
                <a:solidFill>
                  <a:schemeClr val="lt1"/>
                </a:solidFill>
              </a:rPr>
              <a:t>Porque permite rendering híbrido, optimización automática, componentes reutilizables con React, creación de API routes integradas y excelente desempeño.</a:t>
            </a:r>
            <a:endParaRPr sz="1000">
              <a:solidFill>
                <a:schemeClr val="lt1"/>
              </a:solidFill>
            </a:endParaRPr>
          </a:p>
          <a:p>
            <a:pPr indent="0" lvl="0" marL="0" rtl="0" algn="l">
              <a:lnSpc>
                <a:spcPct val="115000"/>
              </a:lnSpc>
              <a:spcBef>
                <a:spcPts val="1400"/>
              </a:spcBef>
              <a:spcAft>
                <a:spcPts val="0"/>
              </a:spcAft>
              <a:buNone/>
            </a:pPr>
            <a:r>
              <a:rPr b="1" lang="es-CL" sz="1200">
                <a:solidFill>
                  <a:schemeClr val="dk1"/>
                </a:solidFill>
              </a:rPr>
              <a:t>3. ¿Cómo se comunican el frontend y el backend?</a:t>
            </a:r>
            <a:endParaRPr b="1" sz="1200">
              <a:solidFill>
                <a:schemeClr val="dk1"/>
              </a:solidFill>
            </a:endParaRPr>
          </a:p>
          <a:p>
            <a:pPr indent="0" lvl="0" marL="0" rtl="0" algn="l">
              <a:lnSpc>
                <a:spcPct val="115000"/>
              </a:lnSpc>
              <a:spcBef>
                <a:spcPts val="1200"/>
              </a:spcBef>
              <a:spcAft>
                <a:spcPts val="0"/>
              </a:spcAft>
              <a:buNone/>
            </a:pPr>
            <a:r>
              <a:rPr lang="es-CL" sz="1000">
                <a:solidFill>
                  <a:schemeClr val="lt1"/>
                </a:solidFill>
              </a:rPr>
              <a:t>A través de </a:t>
            </a:r>
            <a:r>
              <a:rPr b="1" lang="es-CL" sz="1000">
                <a:solidFill>
                  <a:schemeClr val="lt1"/>
                </a:solidFill>
              </a:rPr>
              <a:t>fetch</a:t>
            </a:r>
            <a:r>
              <a:rPr lang="es-CL" sz="1000">
                <a:solidFill>
                  <a:schemeClr val="lt1"/>
                </a:solidFill>
              </a:rPr>
              <a:t> hacia endpoints internos en </a:t>
            </a:r>
            <a:r>
              <a:rPr lang="es-CL" sz="1000">
                <a:solidFill>
                  <a:schemeClr val="lt1"/>
                </a:solidFill>
                <a:latin typeface="Roboto Mono"/>
                <a:ea typeface="Roboto Mono"/>
                <a:cs typeface="Roboto Mono"/>
                <a:sym typeface="Roboto Mono"/>
              </a:rPr>
              <a:t>/api/*</a:t>
            </a:r>
            <a:r>
              <a:rPr lang="es-CL" sz="1000">
                <a:solidFill>
                  <a:schemeClr val="lt1"/>
                </a:solidFill>
              </a:rPr>
              <a:t> que Next.js interpreta como funciones server-side.</a:t>
            </a:r>
            <a:endParaRPr sz="1000">
              <a:solidFill>
                <a:schemeClr val="lt1"/>
              </a:solidFill>
            </a:endParaRPr>
          </a:p>
          <a:p>
            <a:pPr indent="0" lvl="0" marL="0" rtl="0" algn="l">
              <a:lnSpc>
                <a:spcPct val="115000"/>
              </a:lnSpc>
              <a:spcBef>
                <a:spcPts val="1400"/>
              </a:spcBef>
              <a:spcAft>
                <a:spcPts val="0"/>
              </a:spcAft>
              <a:buNone/>
            </a:pPr>
            <a:r>
              <a:rPr b="1" lang="es-CL" sz="1200">
                <a:solidFill>
                  <a:schemeClr val="dk1"/>
                </a:solidFill>
              </a:rPr>
              <a:t>4. ¿Qué patrón de diseño utilizaste en la estructura del frontend?</a:t>
            </a:r>
            <a:endParaRPr b="1" sz="1200">
              <a:solidFill>
                <a:schemeClr val="dk1"/>
              </a:solidFill>
            </a:endParaRPr>
          </a:p>
          <a:p>
            <a:pPr indent="0" lvl="0" marL="0" rtl="0" algn="l">
              <a:lnSpc>
                <a:spcPct val="115000"/>
              </a:lnSpc>
              <a:spcBef>
                <a:spcPts val="1200"/>
              </a:spcBef>
              <a:spcAft>
                <a:spcPts val="0"/>
              </a:spcAft>
              <a:buNone/>
            </a:pPr>
            <a:r>
              <a:rPr lang="es-CL" sz="1000">
                <a:solidFill>
                  <a:schemeClr val="lt1"/>
                </a:solidFill>
              </a:rPr>
              <a:t>Principalmente </a:t>
            </a:r>
            <a:r>
              <a:rPr b="1" lang="es-CL" sz="1000">
                <a:solidFill>
                  <a:schemeClr val="lt1"/>
                </a:solidFill>
              </a:rPr>
              <a:t>componentes funcionales reutilizables</a:t>
            </a:r>
            <a:r>
              <a:rPr lang="es-CL" sz="1000">
                <a:solidFill>
                  <a:schemeClr val="lt1"/>
                </a:solidFill>
              </a:rPr>
              <a:t>, manejo de estado local y un hook centralizado llamado </a:t>
            </a:r>
            <a:r>
              <a:rPr lang="es-CL" sz="1000">
                <a:solidFill>
                  <a:schemeClr val="lt1"/>
                </a:solidFill>
                <a:latin typeface="Roboto Mono"/>
                <a:ea typeface="Roboto Mono"/>
                <a:cs typeface="Roboto Mono"/>
                <a:sym typeface="Roboto Mono"/>
              </a:rPr>
              <a:t>useFinTrack</a:t>
            </a:r>
            <a:r>
              <a:rPr lang="es-CL" sz="1000">
                <a:solidFill>
                  <a:schemeClr val="lt1"/>
                </a:solidFill>
              </a:rPr>
              <a:t> que actúa como store lógico de la app.</a:t>
            </a:r>
            <a:endParaRPr sz="1000">
              <a:solidFill>
                <a:schemeClr val="lt1"/>
              </a:solidFill>
            </a:endParaRPr>
          </a:p>
          <a:p>
            <a:pPr indent="0" lvl="0" marL="0" rtl="0" algn="l">
              <a:lnSpc>
                <a:spcPct val="115000"/>
              </a:lnSpc>
              <a:spcBef>
                <a:spcPts val="1400"/>
              </a:spcBef>
              <a:spcAft>
                <a:spcPts val="0"/>
              </a:spcAft>
              <a:buClr>
                <a:schemeClr val="dk1"/>
              </a:buClr>
              <a:buSzPts val="1100"/>
              <a:buFont typeface="Arial"/>
              <a:buNone/>
            </a:pPr>
            <a:r>
              <a:rPr b="1" lang="es-CL" sz="1200">
                <a:solidFill>
                  <a:schemeClr val="dk1"/>
                </a:solidFill>
              </a:rPr>
              <a:t>5. ¿Que es un Hook?</a:t>
            </a:r>
            <a:endParaRPr sz="1000">
              <a:solidFill>
                <a:schemeClr val="lt1"/>
              </a:solidFill>
            </a:endParaRPr>
          </a:p>
          <a:p>
            <a:pPr indent="0" lvl="0" marL="0" rtl="0" algn="l">
              <a:lnSpc>
                <a:spcPct val="115000"/>
              </a:lnSpc>
              <a:spcBef>
                <a:spcPts val="1200"/>
              </a:spcBef>
              <a:spcAft>
                <a:spcPts val="0"/>
              </a:spcAft>
              <a:buNone/>
            </a:pPr>
            <a:r>
              <a:rPr lang="es-CL" sz="1000">
                <a:solidFill>
                  <a:schemeClr val="lt1"/>
                </a:solidFill>
              </a:rPr>
              <a:t>Un hook es una función que permite que un componente funcional tenga memoria, reaccione a cambios y maneje lógica avanzada, una función normal que React convierte en un componente dinámico.</a:t>
            </a:r>
            <a:endParaRPr sz="1000">
              <a:solidFill>
                <a:schemeClr val="lt1"/>
              </a:solidFill>
            </a:endParaRPr>
          </a:p>
          <a:p>
            <a:pPr indent="0" lvl="0" marL="0" rtl="0" algn="l">
              <a:lnSpc>
                <a:spcPct val="115000"/>
              </a:lnSpc>
              <a:spcBef>
                <a:spcPts val="1400"/>
              </a:spcBef>
              <a:spcAft>
                <a:spcPts val="0"/>
              </a:spcAft>
              <a:buNone/>
            </a:pPr>
            <a:r>
              <a:rPr b="1" lang="es-CL" sz="1200">
                <a:solidFill>
                  <a:schemeClr val="dk1"/>
                </a:solidFill>
              </a:rPr>
              <a:t>6</a:t>
            </a:r>
            <a:r>
              <a:rPr b="1" lang="es-CL" sz="1200">
                <a:solidFill>
                  <a:schemeClr val="dk1"/>
                </a:solidFill>
              </a:rPr>
              <a:t>. ¿Cómo manejaste la persistencia de datos?</a:t>
            </a:r>
            <a:endParaRPr b="1" sz="1200">
              <a:solidFill>
                <a:schemeClr val="dk1"/>
              </a:solidFill>
            </a:endParaRPr>
          </a:p>
          <a:p>
            <a:pPr indent="0" lvl="0" marL="0" rtl="0" algn="l">
              <a:lnSpc>
                <a:spcPct val="115000"/>
              </a:lnSpc>
              <a:spcBef>
                <a:spcPts val="1200"/>
              </a:spcBef>
              <a:spcAft>
                <a:spcPts val="0"/>
              </a:spcAft>
              <a:buNone/>
            </a:pPr>
            <a:r>
              <a:rPr lang="es-CL" sz="1000">
                <a:solidFill>
                  <a:schemeClr val="lt1"/>
                </a:solidFill>
              </a:rPr>
              <a:t>La persistencia se realiza en </a:t>
            </a:r>
            <a:r>
              <a:rPr b="1" lang="es-CL" sz="1000">
                <a:solidFill>
                  <a:schemeClr val="lt1"/>
                </a:solidFill>
              </a:rPr>
              <a:t>PostgreSQL</a:t>
            </a:r>
            <a:r>
              <a:rPr lang="es-CL" sz="1000">
                <a:solidFill>
                  <a:schemeClr val="lt1"/>
                </a:solidFill>
              </a:rPr>
              <a:t> usando un pool de conexiones de </a:t>
            </a:r>
            <a:r>
              <a:rPr lang="es-CL" sz="1000">
                <a:solidFill>
                  <a:schemeClr val="lt1"/>
                </a:solidFill>
                <a:latin typeface="Roboto Mono"/>
                <a:ea typeface="Roboto Mono"/>
                <a:cs typeface="Roboto Mono"/>
                <a:sym typeface="Roboto Mono"/>
              </a:rPr>
              <a:t>pg</a:t>
            </a:r>
            <a:r>
              <a:rPr lang="es-CL" sz="1000">
                <a:solidFill>
                  <a:schemeClr val="lt1"/>
                </a:solidFill>
              </a:rPr>
              <a:t> desde los API routes.</a:t>
            </a:r>
            <a:endParaRPr sz="1000">
              <a:solidFill>
                <a:schemeClr val="lt1"/>
              </a:solidFill>
            </a:endParaRPr>
          </a:p>
          <a:p>
            <a:pPr indent="0" lvl="0" marL="0" rtl="0" algn="l">
              <a:lnSpc>
                <a:spcPct val="115000"/>
              </a:lnSpc>
              <a:spcBef>
                <a:spcPts val="1400"/>
              </a:spcBef>
              <a:spcAft>
                <a:spcPts val="0"/>
              </a:spcAft>
              <a:buNone/>
            </a:pPr>
            <a:r>
              <a:rPr b="1" lang="es-CL" sz="1200">
                <a:solidFill>
                  <a:schemeClr val="dk1"/>
                </a:solidFill>
              </a:rPr>
              <a:t>7</a:t>
            </a:r>
            <a:r>
              <a:rPr b="1" lang="es-CL" sz="1200">
                <a:solidFill>
                  <a:schemeClr val="dk1"/>
                </a:solidFill>
              </a:rPr>
              <a:t>. ¿Qué rol cumple Capacitor en tu proyecto?</a:t>
            </a:r>
            <a:endParaRPr b="1" sz="1200">
              <a:solidFill>
                <a:schemeClr val="dk1"/>
              </a:solidFill>
            </a:endParaRPr>
          </a:p>
          <a:p>
            <a:pPr indent="0" lvl="0" marL="0" rtl="0" algn="l">
              <a:lnSpc>
                <a:spcPct val="115000"/>
              </a:lnSpc>
              <a:spcBef>
                <a:spcPts val="1200"/>
              </a:spcBef>
              <a:spcAft>
                <a:spcPts val="0"/>
              </a:spcAft>
              <a:buNone/>
            </a:pPr>
            <a:r>
              <a:rPr lang="es-CL" sz="1000">
                <a:solidFill>
                  <a:schemeClr val="lt1"/>
                </a:solidFill>
              </a:rPr>
              <a:t>Permite empaquetar la app web como aplicación móvil, accediendo a funcionalidades nativas como almacenamiento, splashscreen y comunicación con Android Studio.</a:t>
            </a:r>
            <a:endParaRPr sz="1000">
              <a:solidFill>
                <a:schemeClr val="lt1"/>
              </a:solidFill>
            </a:endParaRPr>
          </a:p>
          <a:p>
            <a:pPr indent="0" lvl="0" marL="0" rtl="0" algn="l">
              <a:lnSpc>
                <a:spcPct val="115000"/>
              </a:lnSpc>
              <a:spcBef>
                <a:spcPts val="1400"/>
              </a:spcBef>
              <a:spcAft>
                <a:spcPts val="0"/>
              </a:spcAft>
              <a:buNone/>
            </a:pPr>
            <a:r>
              <a:rPr b="1" lang="es-CL" sz="1200">
                <a:solidFill>
                  <a:schemeClr val="dk1"/>
                </a:solidFill>
              </a:rPr>
              <a:t>8</a:t>
            </a:r>
            <a:r>
              <a:rPr b="1" lang="es-CL" sz="1200">
                <a:solidFill>
                  <a:schemeClr val="dk1"/>
                </a:solidFill>
              </a:rPr>
              <a:t>. ¿Por qué PostgreSQL y no otra base de datos?</a:t>
            </a:r>
            <a:endParaRPr b="1" sz="1200">
              <a:solidFill>
                <a:schemeClr val="dk1"/>
              </a:solidFill>
            </a:endParaRPr>
          </a:p>
          <a:p>
            <a:pPr indent="0" lvl="0" marL="0" rtl="0" algn="l">
              <a:lnSpc>
                <a:spcPct val="115000"/>
              </a:lnSpc>
              <a:spcBef>
                <a:spcPts val="1200"/>
              </a:spcBef>
              <a:spcAft>
                <a:spcPts val="0"/>
              </a:spcAft>
              <a:buNone/>
            </a:pPr>
            <a:r>
              <a:rPr lang="es-CL" sz="1000">
                <a:solidFill>
                  <a:schemeClr val="lt1"/>
                </a:solidFill>
              </a:rPr>
              <a:t>Por su estabilidad, compatibilidad con JSON, buenas herramientas para manejo de transacciones y porque es fácil desplegarla tanto local como en la nube.</a:t>
            </a:r>
            <a:endParaRPr sz="1000">
              <a:solidFill>
                <a:schemeClr val="lt1"/>
              </a:solidFill>
            </a:endParaRPr>
          </a:p>
          <a:p>
            <a:pPr indent="0" lvl="0" marL="0" rtl="0" algn="l">
              <a:lnSpc>
                <a:spcPct val="115000"/>
              </a:lnSpc>
              <a:spcBef>
                <a:spcPts val="1400"/>
              </a:spcBef>
              <a:spcAft>
                <a:spcPts val="0"/>
              </a:spcAft>
              <a:buNone/>
            </a:pPr>
            <a:r>
              <a:rPr b="1" lang="es-CL" sz="1200">
                <a:solidFill>
                  <a:schemeClr val="dk1"/>
                </a:solidFill>
              </a:rPr>
              <a:t>9</a:t>
            </a:r>
            <a:r>
              <a:rPr b="1" lang="es-CL" sz="1200">
                <a:solidFill>
                  <a:schemeClr val="dk1"/>
                </a:solidFill>
              </a:rPr>
              <a:t>. ¿Qué tipo de arquitectura utilizas para manejar las transacciones?</a:t>
            </a:r>
            <a:endParaRPr b="1" sz="1200">
              <a:solidFill>
                <a:schemeClr val="dk1"/>
              </a:solidFill>
            </a:endParaRPr>
          </a:p>
          <a:p>
            <a:pPr indent="0" lvl="0" marL="0" rtl="0" algn="l">
              <a:lnSpc>
                <a:spcPct val="115000"/>
              </a:lnSpc>
              <a:spcBef>
                <a:spcPts val="1200"/>
              </a:spcBef>
              <a:spcAft>
                <a:spcPts val="0"/>
              </a:spcAft>
              <a:buNone/>
            </a:pPr>
            <a:r>
              <a:rPr lang="es-CL" sz="1000">
                <a:solidFill>
                  <a:schemeClr val="lt1"/>
                </a:solidFill>
              </a:rPr>
              <a:t>Un modelo </a:t>
            </a:r>
            <a:r>
              <a:rPr b="1" lang="es-CL" sz="1000">
                <a:solidFill>
                  <a:schemeClr val="lt1"/>
                </a:solidFill>
              </a:rPr>
              <a:t>CRUD</a:t>
            </a:r>
            <a:r>
              <a:rPr lang="es-CL" sz="1000">
                <a:solidFill>
                  <a:schemeClr val="lt1"/>
                </a:solidFill>
              </a:rPr>
              <a:t> con queries SQL y un esquema basado en tablas </a:t>
            </a:r>
            <a:r>
              <a:rPr lang="es-CL" sz="1000">
                <a:solidFill>
                  <a:schemeClr val="lt1"/>
                </a:solidFill>
                <a:latin typeface="Roboto Mono"/>
                <a:ea typeface="Roboto Mono"/>
                <a:cs typeface="Roboto Mono"/>
                <a:sym typeface="Roboto Mono"/>
              </a:rPr>
              <a:t>transactions</a:t>
            </a:r>
            <a:r>
              <a:rPr lang="es-CL" sz="1000">
                <a:solidFill>
                  <a:schemeClr val="lt1"/>
                </a:solidFill>
              </a:rPr>
              <a:t>, </a:t>
            </a:r>
            <a:r>
              <a:rPr lang="es-CL" sz="1000">
                <a:solidFill>
                  <a:schemeClr val="lt1"/>
                </a:solidFill>
                <a:latin typeface="Roboto Mono"/>
                <a:ea typeface="Roboto Mono"/>
                <a:cs typeface="Roboto Mono"/>
                <a:sym typeface="Roboto Mono"/>
              </a:rPr>
              <a:t>categories</a:t>
            </a:r>
            <a:r>
              <a:rPr lang="es-CL" sz="1000">
                <a:solidFill>
                  <a:schemeClr val="lt1"/>
                </a:solidFill>
              </a:rPr>
              <a:t>, y </a:t>
            </a:r>
            <a:r>
              <a:rPr lang="es-CL" sz="1000">
                <a:solidFill>
                  <a:schemeClr val="lt1"/>
                </a:solidFill>
                <a:latin typeface="Roboto Mono"/>
                <a:ea typeface="Roboto Mono"/>
                <a:cs typeface="Roboto Mono"/>
                <a:sym typeface="Roboto Mono"/>
              </a:rPr>
              <a:t>users</a:t>
            </a:r>
            <a:r>
              <a:rPr lang="es-CL" sz="1000">
                <a:solidFill>
                  <a:schemeClr val="lt1"/>
                </a:solidFill>
              </a:rPr>
              <a:t>.</a:t>
            </a:r>
            <a:endParaRPr sz="1000">
              <a:solidFill>
                <a:schemeClr val="lt1"/>
              </a:solidFill>
            </a:endParaRPr>
          </a:p>
          <a:p>
            <a:pPr indent="0" lvl="0" marL="0" rtl="0" algn="l">
              <a:lnSpc>
                <a:spcPct val="115000"/>
              </a:lnSpc>
              <a:spcBef>
                <a:spcPts val="1200"/>
              </a:spcBef>
              <a:spcAft>
                <a:spcPts val="0"/>
              </a:spcAft>
              <a:buNone/>
            </a:pPr>
            <a:r>
              <a:t/>
            </a:r>
            <a:endParaRPr sz="1000">
              <a:solidFill>
                <a:schemeClr val="lt1"/>
              </a:solidFill>
            </a:endParaRPr>
          </a:p>
          <a:p>
            <a:pPr indent="0" lvl="0" marL="0" rtl="0" algn="l">
              <a:lnSpc>
                <a:spcPct val="115000"/>
              </a:lnSpc>
              <a:spcBef>
                <a:spcPts val="1200"/>
              </a:spcBef>
              <a:spcAft>
                <a:spcPts val="1200"/>
              </a:spcAft>
              <a:buNone/>
            </a:pPr>
            <a:r>
              <a:t/>
            </a:r>
            <a:endParaRPr sz="9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ac84433e37_0_5"/>
          <p:cNvSpPr txBox="1"/>
          <p:nvPr/>
        </p:nvSpPr>
        <p:spPr>
          <a:xfrm>
            <a:off x="-28925" y="369300"/>
            <a:ext cx="12220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200">
                <a:solidFill>
                  <a:schemeClr val="lt1"/>
                </a:solidFill>
              </a:rPr>
              <a:t>El token de recuperación de contraseña se almacena en la base de datos</a:t>
            </a:r>
            <a:r>
              <a:rPr lang="es-CL" sz="1200">
                <a:solidFill>
                  <a:schemeClr val="lt1"/>
                </a:solidFill>
              </a:rPr>
              <a:t>, pero siempre en formato hasheado, igual que una contraseña</a:t>
            </a:r>
            <a:r>
              <a:rPr lang="es-CL" sz="1200">
                <a:solidFill>
                  <a:schemeClr val="lt1"/>
                </a:solidFill>
              </a:rPr>
              <a:t>. El token real se envía solo por correo al usuario. Cuando el usuario abre el enlace, el token se valida comparando su versión hasheada con el hash almacenado en la base de datos. De esta forma nunca almacenamos tokens sensibles en el cliente ni en texto plano.</a:t>
            </a:r>
            <a:endParaRPr sz="1200">
              <a:solidFill>
                <a:schemeClr val="lt1"/>
              </a:solidFill>
            </a:endParaRPr>
          </a:p>
        </p:txBody>
      </p:sp>
      <p:sp>
        <p:nvSpPr>
          <p:cNvPr id="297" name="Google Shape;297;g3ac84433e37_0_5"/>
          <p:cNvSpPr txBox="1"/>
          <p:nvPr/>
        </p:nvSpPr>
        <p:spPr>
          <a:xfrm>
            <a:off x="0" y="0"/>
            <a:ext cx="398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s-CL" sz="1200">
                <a:solidFill>
                  <a:schemeClr val="dk1"/>
                </a:solidFill>
              </a:rPr>
              <a:t>10. ¿Donde se guardan los Token?</a:t>
            </a:r>
            <a:endParaRPr b="1" sz="1200">
              <a:solidFill>
                <a:schemeClr val="dk1"/>
              </a:solidFill>
            </a:endParaRPr>
          </a:p>
        </p:txBody>
      </p:sp>
      <p:sp>
        <p:nvSpPr>
          <p:cNvPr id="298" name="Google Shape;298;g3ac84433e37_0_5"/>
          <p:cNvSpPr txBox="1"/>
          <p:nvPr/>
        </p:nvSpPr>
        <p:spPr>
          <a:xfrm>
            <a:off x="0" y="1662000"/>
            <a:ext cx="12192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200">
                <a:solidFill>
                  <a:schemeClr val="lt1"/>
                </a:solidFill>
              </a:rPr>
              <a:t>Hashear significa convertir un dato en una cadena irreversible mediante una función matemática de hash. Esto permite almacenar contraseñas o tokens de forma segura, ya que aunque alguien acceda a la base de datos, no podrá obtener el valor original. En el backend se compara el hash de lo que ingresa el usuario con el hash almacenado, pero nunca se guarda ni se transmite la contraseña real.</a:t>
            </a:r>
            <a:endParaRPr sz="1200">
              <a:solidFill>
                <a:schemeClr val="lt1"/>
              </a:solidFill>
            </a:endParaRPr>
          </a:p>
        </p:txBody>
      </p:sp>
      <p:sp>
        <p:nvSpPr>
          <p:cNvPr id="299" name="Google Shape;299;g3ac84433e37_0_5"/>
          <p:cNvSpPr txBox="1"/>
          <p:nvPr/>
        </p:nvSpPr>
        <p:spPr>
          <a:xfrm>
            <a:off x="0" y="129270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s-CL" sz="1200">
                <a:solidFill>
                  <a:schemeClr val="dk1"/>
                </a:solidFill>
              </a:rPr>
              <a:t>11</a:t>
            </a:r>
            <a:r>
              <a:rPr b="1" lang="es-CL" sz="1200">
                <a:solidFill>
                  <a:schemeClr val="dk1"/>
                </a:solidFill>
              </a:rPr>
              <a:t>. ¿Que significa Hashear?</a:t>
            </a:r>
            <a:endParaRPr b="1" sz="1200">
              <a:solidFill>
                <a:schemeClr val="dk1"/>
              </a:solidFill>
            </a:endParaRPr>
          </a:p>
        </p:txBody>
      </p:sp>
      <p:sp>
        <p:nvSpPr>
          <p:cNvPr id="300" name="Google Shape;300;g3ac84433e37_0_5"/>
          <p:cNvSpPr txBox="1"/>
          <p:nvPr/>
        </p:nvSpPr>
        <p:spPr>
          <a:xfrm>
            <a:off x="0" y="2616025"/>
            <a:ext cx="7831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CL" sz="1200"/>
              <a:t>12. </a:t>
            </a:r>
            <a:r>
              <a:rPr b="1" lang="es-CL" sz="1200"/>
              <a:t>¿Por qué decidiste utilizar API Routes en Next.js en lugar de implementar un backend separado?</a:t>
            </a:r>
            <a:endParaRPr b="1" sz="1200"/>
          </a:p>
        </p:txBody>
      </p:sp>
      <p:sp>
        <p:nvSpPr>
          <p:cNvPr id="301" name="Google Shape;301;g3ac84433e37_0_5"/>
          <p:cNvSpPr txBox="1"/>
          <p:nvPr/>
        </p:nvSpPr>
        <p:spPr>
          <a:xfrm>
            <a:off x="0" y="3015950"/>
            <a:ext cx="1219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200">
                <a:solidFill>
                  <a:schemeClr val="lt1"/>
                </a:solidFill>
              </a:rPr>
              <a:t>Utilizamos API Routes porque permiten tener backend y frontend integrados en Next.js. Simplifican la arquitectura, evitan un servidor separado, facilitan el despliegue y son suficientes para la lógica de Clarifi.</a:t>
            </a:r>
            <a:endParaRPr sz="1200">
              <a:solidFill>
                <a:schemeClr val="lt1"/>
              </a:solidFill>
            </a:endParaRPr>
          </a:p>
        </p:txBody>
      </p:sp>
      <p:sp>
        <p:nvSpPr>
          <p:cNvPr id="302" name="Google Shape;302;g3ac84433e37_0_5"/>
          <p:cNvSpPr txBox="1"/>
          <p:nvPr/>
        </p:nvSpPr>
        <p:spPr>
          <a:xfrm>
            <a:off x="0" y="3600675"/>
            <a:ext cx="9363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CL" sz="1200"/>
              <a:t>13</a:t>
            </a:r>
            <a:r>
              <a:rPr b="1" lang="es-CL" sz="1200"/>
              <a:t>.</a:t>
            </a:r>
            <a:r>
              <a:rPr b="1" lang="es-CL" sz="1200"/>
              <a:t>¿Qué tecnología utilizamos en cada componente de nuestro proyecto y para qué función específica sirve cada una?</a:t>
            </a:r>
            <a:endParaRPr b="1" sz="1200"/>
          </a:p>
        </p:txBody>
      </p:sp>
      <p:sp>
        <p:nvSpPr>
          <p:cNvPr id="303" name="Google Shape;303;g3ac84433e37_0_5"/>
          <p:cNvSpPr txBox="1"/>
          <p:nvPr/>
        </p:nvSpPr>
        <p:spPr>
          <a:xfrm>
            <a:off x="0" y="3880675"/>
            <a:ext cx="12192000" cy="301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CL" sz="1200">
                <a:solidFill>
                  <a:schemeClr val="lt1"/>
                </a:solidFill>
              </a:rPr>
              <a:t>En Clarifi </a:t>
            </a:r>
            <a:r>
              <a:rPr lang="es-CL" sz="1200">
                <a:solidFill>
                  <a:schemeClr val="lt1"/>
                </a:solidFill>
              </a:rPr>
              <a:t>utilizamos</a:t>
            </a:r>
            <a:r>
              <a:rPr lang="es-CL" sz="1200">
                <a:solidFill>
                  <a:schemeClr val="lt1"/>
                </a:solidFill>
              </a:rPr>
              <a:t>:</a:t>
            </a:r>
            <a:endParaRPr sz="1200">
              <a:solidFill>
                <a:schemeClr val="lt1"/>
              </a:solidFill>
            </a:endParaRPr>
          </a:p>
          <a:p>
            <a:pPr indent="-304800" lvl="0" marL="457200" rtl="0" algn="l">
              <a:lnSpc>
                <a:spcPct val="115000"/>
              </a:lnSpc>
              <a:spcBef>
                <a:spcPts val="1200"/>
              </a:spcBef>
              <a:spcAft>
                <a:spcPts val="0"/>
              </a:spcAft>
              <a:buClr>
                <a:schemeClr val="lt1"/>
              </a:buClr>
              <a:buSzPts val="1200"/>
              <a:buChar char="●"/>
            </a:pPr>
            <a:r>
              <a:rPr b="1" lang="es-CL" sz="1200">
                <a:solidFill>
                  <a:schemeClr val="lt1"/>
                </a:solidFill>
              </a:rPr>
              <a:t>Frontend: Next.js + React</a:t>
            </a:r>
            <a:r>
              <a:rPr lang="es-CL" sz="1200">
                <a:solidFill>
                  <a:schemeClr val="lt1"/>
                </a:solidFill>
              </a:rPr>
              <a:t> → para la interfaz, los filtros y mostrar los gráficos.</a:t>
            </a:r>
            <a:br>
              <a:rPr lang="es-CL"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s-CL" sz="1200">
                <a:solidFill>
                  <a:schemeClr val="lt1"/>
                </a:solidFill>
              </a:rPr>
              <a:t>Backend: Next.js, API Routes sobre Node.js</a:t>
            </a:r>
            <a:r>
              <a:rPr lang="es-CL" sz="1200">
                <a:solidFill>
                  <a:schemeClr val="lt1"/>
                </a:solidFill>
              </a:rPr>
              <a:t> → </a:t>
            </a:r>
            <a:r>
              <a:rPr lang="es-CL" sz="1200">
                <a:solidFill>
                  <a:schemeClr val="lt1"/>
                </a:solidFill>
              </a:rPr>
              <a:t>Node.js ejecuta el servidor donde corren las API Routes.</a:t>
            </a:r>
            <a:br>
              <a:rPr lang="es-CL" sz="1200">
                <a:solidFill>
                  <a:schemeClr val="lt1"/>
                </a:solidFill>
              </a:rPr>
            </a:br>
            <a:r>
              <a:rPr lang="es-CL" sz="1200">
                <a:solidFill>
                  <a:schemeClr val="lt1"/>
                </a:solidFill>
              </a:rPr>
              <a:t> Ahí implementamos la lógica de negocio, autenticación, validaciones y todas las consultas a la base de datos. </a:t>
            </a: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s-CL" sz="1200">
                <a:solidFill>
                  <a:schemeClr val="lt1"/>
                </a:solidFill>
              </a:rPr>
              <a:t>Base de Datos: PostgreSQL</a:t>
            </a:r>
            <a:r>
              <a:rPr lang="es-CL" sz="1200">
                <a:solidFill>
                  <a:schemeClr val="lt1"/>
                </a:solidFill>
              </a:rPr>
              <a:t> → para guardar usuarios, categorías y transacciones.</a:t>
            </a:r>
            <a:br>
              <a:rPr lang="es-CL"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s-CL" sz="1200">
                <a:solidFill>
                  <a:schemeClr val="lt1"/>
                </a:solidFill>
              </a:rPr>
              <a:t>Móvil: Capacitor, Android</a:t>
            </a:r>
            <a:r>
              <a:rPr lang="es-CL" sz="1200">
                <a:solidFill>
                  <a:schemeClr val="lt1"/>
                </a:solidFill>
              </a:rPr>
              <a:t> Studio→ para ejecutar la misma app web como aplicación en Android.</a:t>
            </a:r>
            <a:br>
              <a:rPr lang="es-CL"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s-CL" sz="1200">
                <a:solidFill>
                  <a:schemeClr val="lt1"/>
                </a:solidFill>
              </a:rPr>
              <a:t>Gráficos: Recharts</a:t>
            </a:r>
            <a:r>
              <a:rPr lang="es-CL" sz="1200">
                <a:solidFill>
                  <a:schemeClr val="lt1"/>
                </a:solidFill>
              </a:rPr>
              <a:t> → para visualizar ingresos, gastos, balance y categorías.</a:t>
            </a:r>
            <a:br>
              <a:rPr lang="es-CL" sz="1200">
                <a:solidFill>
                  <a:schemeClr val="lt1"/>
                </a:solidFill>
              </a:rPr>
            </a:br>
            <a:endParaRPr sz="1200">
              <a:solidFill>
                <a:schemeClr val="lt1"/>
              </a:solidFill>
            </a:endParaRPr>
          </a:p>
          <a:p>
            <a:pPr indent="0" lvl="0" marL="0" rtl="0" algn="l">
              <a:lnSpc>
                <a:spcPct val="115000"/>
              </a:lnSpc>
              <a:spcBef>
                <a:spcPts val="1200"/>
              </a:spcBef>
              <a:spcAft>
                <a:spcPts val="1200"/>
              </a:spcAft>
              <a:buNone/>
            </a:pPr>
            <a:r>
              <a:t/>
            </a:r>
            <a:endParaRPr sz="12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acdf2023b3_0_2"/>
          <p:cNvSpPr txBox="1"/>
          <p:nvPr/>
        </p:nvSpPr>
        <p:spPr>
          <a:xfrm>
            <a:off x="0" y="0"/>
            <a:ext cx="7738500" cy="9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CL" sz="1200">
                <a:solidFill>
                  <a:schemeClr val="dk1"/>
                </a:solidFill>
              </a:rPr>
              <a:t>14</a:t>
            </a:r>
            <a:r>
              <a:rPr b="1" lang="es-CL" sz="1200">
                <a:solidFill>
                  <a:schemeClr val="dk1"/>
                </a:solidFill>
              </a:rPr>
              <a:t>. ¿Cómo escalas esta arquitectura si la aplicación crece?</a:t>
            </a:r>
            <a:endParaRPr b="1" sz="1200">
              <a:solidFill>
                <a:schemeClr val="dk1"/>
              </a:solidFill>
            </a:endParaRPr>
          </a:p>
          <a:p>
            <a:pPr indent="0" lvl="0" marL="0" rtl="0" algn="l">
              <a:lnSpc>
                <a:spcPct val="115000"/>
              </a:lnSpc>
              <a:spcBef>
                <a:spcPts val="1200"/>
              </a:spcBef>
              <a:spcAft>
                <a:spcPts val="1200"/>
              </a:spcAft>
              <a:buNone/>
            </a:pPr>
            <a:r>
              <a:rPr lang="es-CL" sz="1200">
                <a:solidFill>
                  <a:schemeClr val="lt1"/>
                </a:solidFill>
              </a:rPr>
              <a:t>Si la aplicación creciera, separaría el backend en un servicio independiente, mejoraría el acceso a la base de datos y agregaría mecanismos como caché y balanceo de carga para manejar más usuarios sin problemas.</a:t>
            </a:r>
            <a:endParaRPr sz="1600"/>
          </a:p>
        </p:txBody>
      </p:sp>
      <p:sp>
        <p:nvSpPr>
          <p:cNvPr id="309" name="Google Shape;309;g3acdf2023b3_0_2"/>
          <p:cNvSpPr txBox="1"/>
          <p:nvPr/>
        </p:nvSpPr>
        <p:spPr>
          <a:xfrm>
            <a:off x="0" y="808575"/>
            <a:ext cx="10370400" cy="301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s-CL" sz="1200">
                <a:solidFill>
                  <a:schemeClr val="dk1"/>
                </a:solidFill>
              </a:rPr>
              <a:t>15. ¿Cómo estructuramos las carpetas principales del proyecto?</a:t>
            </a:r>
            <a:endParaRPr b="1" sz="1200">
              <a:solidFill>
                <a:schemeClr val="dk1"/>
              </a:solidFill>
            </a:endParaRPr>
          </a:p>
          <a:p>
            <a:pPr indent="0" lvl="0" marL="0" rtl="0" algn="l">
              <a:lnSpc>
                <a:spcPct val="115000"/>
              </a:lnSpc>
              <a:spcBef>
                <a:spcPts val="1200"/>
              </a:spcBef>
              <a:spcAft>
                <a:spcPts val="0"/>
              </a:spcAft>
              <a:buNone/>
            </a:pPr>
            <a:r>
              <a:rPr lang="es-CL" sz="1200">
                <a:solidFill>
                  <a:schemeClr val="lt1"/>
                </a:solidFill>
              </a:rPr>
              <a:t>Separé el proyecto en:</a:t>
            </a:r>
            <a:endParaRPr sz="1200">
              <a:solidFill>
                <a:schemeClr val="lt1"/>
              </a:solidFill>
            </a:endParaRPr>
          </a:p>
          <a:p>
            <a:pPr indent="-304800" lvl="0" marL="457200" rtl="0" algn="l">
              <a:lnSpc>
                <a:spcPct val="115000"/>
              </a:lnSpc>
              <a:spcBef>
                <a:spcPts val="1200"/>
              </a:spcBef>
              <a:spcAft>
                <a:spcPts val="0"/>
              </a:spcAft>
              <a:buClr>
                <a:schemeClr val="lt1"/>
              </a:buClr>
              <a:buSzPts val="1200"/>
              <a:buChar char="●"/>
            </a:pPr>
            <a:r>
              <a:rPr lang="es-CL" sz="1200">
                <a:solidFill>
                  <a:schemeClr val="lt1"/>
                </a:solidFill>
                <a:latin typeface="Roboto Mono"/>
                <a:ea typeface="Roboto Mono"/>
                <a:cs typeface="Roboto Mono"/>
                <a:sym typeface="Roboto Mono"/>
              </a:rPr>
              <a:t>/app</a:t>
            </a:r>
            <a:r>
              <a:rPr lang="es-CL" sz="1200">
                <a:solidFill>
                  <a:schemeClr val="lt1"/>
                </a:solidFill>
              </a:rPr>
              <a:t> → páginas y vistas</a:t>
            </a:r>
            <a:br>
              <a:rPr lang="es-CL"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s-CL" sz="1200">
                <a:solidFill>
                  <a:schemeClr val="lt1"/>
                </a:solidFill>
                <a:latin typeface="Roboto Mono"/>
                <a:ea typeface="Roboto Mono"/>
                <a:cs typeface="Roboto Mono"/>
                <a:sym typeface="Roboto Mono"/>
              </a:rPr>
              <a:t>/app/api</a:t>
            </a:r>
            <a:r>
              <a:rPr lang="es-CL" sz="1200">
                <a:solidFill>
                  <a:schemeClr val="lt1"/>
                </a:solidFill>
              </a:rPr>
              <a:t> → API Routes (backend)</a:t>
            </a:r>
            <a:br>
              <a:rPr lang="es-CL"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s-CL" sz="1200">
                <a:solidFill>
                  <a:schemeClr val="lt1"/>
                </a:solidFill>
                <a:latin typeface="Roboto Mono"/>
                <a:ea typeface="Roboto Mono"/>
                <a:cs typeface="Roboto Mono"/>
                <a:sym typeface="Roboto Mono"/>
              </a:rPr>
              <a:t>/components</a:t>
            </a:r>
            <a:r>
              <a:rPr lang="es-CL" sz="1200">
                <a:solidFill>
                  <a:schemeClr val="lt1"/>
                </a:solidFill>
              </a:rPr>
              <a:t> → componentes reutilizables</a:t>
            </a:r>
            <a:br>
              <a:rPr lang="es-CL"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s-CL" sz="1200">
                <a:solidFill>
                  <a:schemeClr val="lt1"/>
                </a:solidFill>
                <a:latin typeface="Roboto Mono"/>
                <a:ea typeface="Roboto Mono"/>
                <a:cs typeface="Roboto Mono"/>
                <a:sym typeface="Roboto Mono"/>
              </a:rPr>
              <a:t>/lib</a:t>
            </a:r>
            <a:r>
              <a:rPr lang="es-CL" sz="1200">
                <a:solidFill>
                  <a:schemeClr val="lt1"/>
                </a:solidFill>
              </a:rPr>
              <a:t> → funciones utilitarias</a:t>
            </a:r>
            <a:br>
              <a:rPr lang="es-CL"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s-CL" sz="1200">
                <a:solidFill>
                  <a:schemeClr val="lt1"/>
                </a:solidFill>
                <a:latin typeface="Roboto Mono"/>
                <a:ea typeface="Roboto Mono"/>
                <a:cs typeface="Roboto Mono"/>
                <a:sym typeface="Roboto Mono"/>
              </a:rPr>
              <a:t>/db</a:t>
            </a:r>
            <a:r>
              <a:rPr lang="es-CL" sz="1200">
                <a:solidFill>
                  <a:schemeClr val="lt1"/>
                </a:solidFill>
              </a:rPr>
              <a:t> o directamente en API → consultas SQL</a:t>
            </a:r>
            <a:br>
              <a:rPr lang="es-CL" sz="1200">
                <a:solidFill>
                  <a:schemeClr val="lt1"/>
                </a:solidFill>
              </a:rPr>
            </a:br>
            <a:r>
              <a:rPr lang="es-CL" sz="1200">
                <a:solidFill>
                  <a:schemeClr val="lt1"/>
                </a:solidFill>
              </a:rPr>
              <a:t> Esta estructura mantiene ordenada la lógica y la interfaz.</a:t>
            </a:r>
            <a:endParaRPr sz="1200">
              <a:solidFill>
                <a:schemeClr val="lt1"/>
              </a:solidFill>
            </a:endParaRPr>
          </a:p>
        </p:txBody>
      </p:sp>
      <p:sp>
        <p:nvSpPr>
          <p:cNvPr id="310" name="Google Shape;310;g3acdf2023b3_0_2"/>
          <p:cNvSpPr txBox="1"/>
          <p:nvPr/>
        </p:nvSpPr>
        <p:spPr>
          <a:xfrm>
            <a:off x="0" y="3736675"/>
            <a:ext cx="12001500" cy="73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s-CL" sz="1200">
                <a:solidFill>
                  <a:schemeClr val="dk1"/>
                </a:solidFill>
              </a:rPr>
              <a:t>16.</a:t>
            </a:r>
            <a:r>
              <a:rPr b="1" lang="es-CL" sz="1200">
                <a:solidFill>
                  <a:schemeClr val="dk1"/>
                </a:solidFill>
              </a:rPr>
              <a:t>¿Cómo organizamos los componentes del frontend?</a:t>
            </a:r>
            <a:endParaRPr b="1" sz="1200">
              <a:solidFill>
                <a:schemeClr val="dk1"/>
              </a:solidFill>
            </a:endParaRPr>
          </a:p>
          <a:p>
            <a:pPr indent="0" lvl="0" marL="0" rtl="0" algn="l">
              <a:lnSpc>
                <a:spcPct val="115000"/>
              </a:lnSpc>
              <a:spcBef>
                <a:spcPts val="1200"/>
              </a:spcBef>
              <a:spcAft>
                <a:spcPts val="1200"/>
              </a:spcAft>
              <a:buNone/>
            </a:pPr>
            <a:r>
              <a:rPr lang="es-CL" sz="1200">
                <a:solidFill>
                  <a:schemeClr val="lt1"/>
                </a:solidFill>
              </a:rPr>
              <a:t>Cada vista tiene componentes propios, y los elementos reutilizables (cards, inputs, tablas, selects) están en la carpeta </a:t>
            </a:r>
            <a:r>
              <a:rPr lang="es-CL" sz="1200">
                <a:solidFill>
                  <a:schemeClr val="lt1"/>
                </a:solidFill>
                <a:latin typeface="Roboto Mono"/>
                <a:ea typeface="Roboto Mono"/>
                <a:cs typeface="Roboto Mono"/>
                <a:sym typeface="Roboto Mono"/>
              </a:rPr>
              <a:t>/components/ui</a:t>
            </a:r>
            <a:r>
              <a:rPr lang="es-CL" sz="1100">
                <a:solidFill>
                  <a:schemeClr val="lt1"/>
                </a:solidFill>
              </a:rPr>
              <a:t>.</a:t>
            </a:r>
            <a:endParaRPr sz="1100">
              <a:solidFill>
                <a:schemeClr val="lt1"/>
              </a:solidFill>
            </a:endParaRPr>
          </a:p>
        </p:txBody>
      </p:sp>
      <p:sp>
        <p:nvSpPr>
          <p:cNvPr id="311" name="Google Shape;311;g3acdf2023b3_0_2"/>
          <p:cNvSpPr txBox="1"/>
          <p:nvPr/>
        </p:nvSpPr>
        <p:spPr>
          <a:xfrm>
            <a:off x="0" y="4472275"/>
            <a:ext cx="12083100" cy="73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s-CL" sz="1200">
                <a:solidFill>
                  <a:schemeClr val="dk1"/>
                </a:solidFill>
              </a:rPr>
              <a:t>17</a:t>
            </a:r>
            <a:r>
              <a:rPr b="1" lang="es-CL" sz="1200">
                <a:solidFill>
                  <a:schemeClr val="dk1"/>
                </a:solidFill>
              </a:rPr>
              <a:t>. ¿Qué función cumple la carpeta </a:t>
            </a:r>
            <a:r>
              <a:rPr b="1" lang="es-CL" sz="1200">
                <a:solidFill>
                  <a:srgbClr val="188038"/>
                </a:solidFill>
                <a:latin typeface="Roboto Mono"/>
                <a:ea typeface="Roboto Mono"/>
                <a:cs typeface="Roboto Mono"/>
                <a:sym typeface="Roboto Mono"/>
              </a:rPr>
              <a:t>/app/api</a:t>
            </a:r>
            <a:r>
              <a:rPr b="1" lang="es-CL" sz="1200">
                <a:solidFill>
                  <a:schemeClr val="dk1"/>
                </a:solidFill>
              </a:rPr>
              <a:t> en la estructura del proyecto?</a:t>
            </a:r>
            <a:endParaRPr b="1" sz="1200">
              <a:solidFill>
                <a:schemeClr val="dk1"/>
              </a:solidFill>
            </a:endParaRPr>
          </a:p>
          <a:p>
            <a:pPr indent="0" lvl="0" marL="0" rtl="0" algn="l">
              <a:lnSpc>
                <a:spcPct val="115000"/>
              </a:lnSpc>
              <a:spcBef>
                <a:spcPts val="1200"/>
              </a:spcBef>
              <a:spcAft>
                <a:spcPts val="1200"/>
              </a:spcAft>
              <a:buNone/>
            </a:pPr>
            <a:r>
              <a:rPr lang="es-CL" sz="1200">
                <a:solidFill>
                  <a:schemeClr val="lt1"/>
                </a:solidFill>
              </a:rPr>
              <a:t>Contiene todas las API Routes, que actúan como backend. Cada subcarpeta representa un endpoint.</a:t>
            </a:r>
            <a:endParaRPr sz="1200">
              <a:solidFill>
                <a:schemeClr val="lt1"/>
              </a:solidFill>
            </a:endParaRPr>
          </a:p>
        </p:txBody>
      </p:sp>
      <p:sp>
        <p:nvSpPr>
          <p:cNvPr id="312" name="Google Shape;312;g3acdf2023b3_0_2"/>
          <p:cNvSpPr txBox="1"/>
          <p:nvPr/>
        </p:nvSpPr>
        <p:spPr>
          <a:xfrm>
            <a:off x="0" y="5130525"/>
            <a:ext cx="12192000" cy="9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s-CL" sz="1200">
                <a:solidFill>
                  <a:schemeClr val="dk1"/>
                </a:solidFill>
              </a:rPr>
              <a:t>18</a:t>
            </a:r>
            <a:r>
              <a:rPr b="1" lang="es-CL" sz="1200">
                <a:solidFill>
                  <a:schemeClr val="dk1"/>
                </a:solidFill>
              </a:rPr>
              <a:t>. ¿Cómo aseguraste que el backend no se mezclara con el frontend?</a:t>
            </a:r>
            <a:endParaRPr b="1" sz="1200">
              <a:solidFill>
                <a:schemeClr val="dk1"/>
              </a:solidFill>
            </a:endParaRPr>
          </a:p>
          <a:p>
            <a:pPr indent="0" lvl="0" marL="0" rtl="0" algn="l">
              <a:lnSpc>
                <a:spcPct val="115000"/>
              </a:lnSpc>
              <a:spcBef>
                <a:spcPts val="1200"/>
              </a:spcBef>
              <a:spcAft>
                <a:spcPts val="1200"/>
              </a:spcAft>
              <a:buNone/>
            </a:pPr>
            <a:r>
              <a:rPr lang="es-CL" sz="1200">
                <a:solidFill>
                  <a:schemeClr val="lt1"/>
                </a:solidFill>
              </a:rPr>
              <a:t>Todo el backend está en </a:t>
            </a:r>
            <a:r>
              <a:rPr lang="es-CL" sz="1200">
                <a:solidFill>
                  <a:schemeClr val="lt1"/>
                </a:solidFill>
                <a:latin typeface="Roboto Mono"/>
                <a:ea typeface="Roboto Mono"/>
                <a:cs typeface="Roboto Mono"/>
                <a:sym typeface="Roboto Mono"/>
              </a:rPr>
              <a:t>/app/api/*</a:t>
            </a:r>
            <a:r>
              <a:rPr lang="es-CL" sz="1200">
                <a:solidFill>
                  <a:schemeClr val="lt1"/>
                </a:solidFill>
              </a:rPr>
              <a:t>, aislado.</a:t>
            </a:r>
            <a:br>
              <a:rPr lang="es-CL" sz="1200">
                <a:solidFill>
                  <a:schemeClr val="lt1"/>
                </a:solidFill>
              </a:rPr>
            </a:br>
            <a:r>
              <a:rPr lang="es-CL" sz="1200">
                <a:solidFill>
                  <a:schemeClr val="lt1"/>
                </a:solidFill>
              </a:rPr>
              <a:t> Todo lo visual está en </a:t>
            </a:r>
            <a:r>
              <a:rPr lang="es-CL" sz="1200">
                <a:solidFill>
                  <a:schemeClr val="lt1"/>
                </a:solidFill>
                <a:latin typeface="Roboto Mono"/>
                <a:ea typeface="Roboto Mono"/>
                <a:cs typeface="Roboto Mono"/>
                <a:sym typeface="Roboto Mono"/>
              </a:rPr>
              <a:t>/components</a:t>
            </a:r>
            <a:r>
              <a:rPr lang="es-CL" sz="1200">
                <a:solidFill>
                  <a:schemeClr val="lt1"/>
                </a:solidFill>
              </a:rPr>
              <a:t> y </a:t>
            </a:r>
            <a:r>
              <a:rPr lang="es-CL" sz="1200">
                <a:solidFill>
                  <a:schemeClr val="lt1"/>
                </a:solidFill>
                <a:latin typeface="Roboto Mono"/>
                <a:ea typeface="Roboto Mono"/>
                <a:cs typeface="Roboto Mono"/>
                <a:sym typeface="Roboto Mono"/>
              </a:rPr>
              <a:t>/app/*</a:t>
            </a:r>
            <a:r>
              <a:rPr lang="es-CL" sz="1200">
                <a:solidFill>
                  <a:schemeClr val="lt1"/>
                </a:solidFill>
              </a:rPr>
              <a:t>.</a:t>
            </a:r>
            <a:endParaRPr sz="12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ac84433e37_0_10"/>
          <p:cNvSpPr txBox="1"/>
          <p:nvPr/>
        </p:nvSpPr>
        <p:spPr>
          <a:xfrm>
            <a:off x="0" y="0"/>
            <a:ext cx="12192000" cy="152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s-CL" sz="1200">
                <a:solidFill>
                  <a:schemeClr val="dk1"/>
                </a:solidFill>
              </a:rPr>
              <a:t>19. ¿Qué estructura tiene la lógica de reportes?</a:t>
            </a:r>
            <a:endParaRPr b="1" sz="1200">
              <a:solidFill>
                <a:schemeClr val="dk1"/>
              </a:solidFill>
            </a:endParaRPr>
          </a:p>
          <a:p>
            <a:pPr indent="0" lvl="0" marL="0" rtl="0" algn="l">
              <a:lnSpc>
                <a:spcPct val="115000"/>
              </a:lnSpc>
              <a:spcBef>
                <a:spcPts val="1200"/>
              </a:spcBef>
              <a:spcAft>
                <a:spcPts val="0"/>
              </a:spcAft>
              <a:buNone/>
            </a:pPr>
            <a:r>
              <a:rPr lang="es-CL" sz="1200">
                <a:solidFill>
                  <a:schemeClr val="lt1"/>
                </a:solidFill>
              </a:rPr>
              <a:t>Está en dos partes:</a:t>
            </a:r>
            <a:endParaRPr sz="1200">
              <a:solidFill>
                <a:schemeClr val="lt1"/>
              </a:solidFill>
            </a:endParaRPr>
          </a:p>
          <a:p>
            <a:pPr indent="-304800" lvl="0" marL="457200" rtl="0" algn="l">
              <a:lnSpc>
                <a:spcPct val="115000"/>
              </a:lnSpc>
              <a:spcBef>
                <a:spcPts val="1200"/>
              </a:spcBef>
              <a:spcAft>
                <a:spcPts val="0"/>
              </a:spcAft>
              <a:buClr>
                <a:schemeClr val="lt1"/>
              </a:buClr>
              <a:buSzPts val="1200"/>
              <a:buChar char="●"/>
            </a:pPr>
            <a:r>
              <a:rPr lang="es-CL" sz="1200">
                <a:solidFill>
                  <a:schemeClr val="lt1"/>
                </a:solidFill>
              </a:rPr>
              <a:t>Servicio de cálculos (frontend)</a:t>
            </a:r>
            <a:br>
              <a:rPr lang="es-CL"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lang="es-CL" sz="1200">
                <a:solidFill>
                  <a:schemeClr val="lt1"/>
                </a:solidFill>
              </a:rPr>
              <a:t>API para obtener datos brutos (backend)</a:t>
            </a:r>
            <a:endParaRPr sz="1200">
              <a:solidFill>
                <a:schemeClr val="lt1"/>
              </a:solidFill>
            </a:endParaRPr>
          </a:p>
        </p:txBody>
      </p:sp>
      <p:sp>
        <p:nvSpPr>
          <p:cNvPr id="318" name="Google Shape;318;g3ac84433e37_0_10"/>
          <p:cNvSpPr txBox="1"/>
          <p:nvPr/>
        </p:nvSpPr>
        <p:spPr>
          <a:xfrm>
            <a:off x="0" y="1423500"/>
            <a:ext cx="12192000" cy="73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s-CL" sz="1200">
                <a:solidFill>
                  <a:schemeClr val="dk1"/>
                </a:solidFill>
              </a:rPr>
              <a:t>20</a:t>
            </a:r>
            <a:r>
              <a:rPr b="1" lang="es-CL" sz="1200">
                <a:solidFill>
                  <a:schemeClr val="dk1"/>
                </a:solidFill>
              </a:rPr>
              <a:t>. ¿Qué criterios </a:t>
            </a:r>
            <a:r>
              <a:rPr b="1" lang="es-CL" sz="1200">
                <a:solidFill>
                  <a:schemeClr val="dk1"/>
                </a:solidFill>
              </a:rPr>
              <a:t>seguimos</a:t>
            </a:r>
            <a:r>
              <a:rPr b="1" lang="es-CL" sz="1200">
                <a:solidFill>
                  <a:schemeClr val="dk1"/>
                </a:solidFill>
              </a:rPr>
              <a:t> para organizar la base de datos?</a:t>
            </a:r>
            <a:endParaRPr b="1" sz="1200">
              <a:solidFill>
                <a:schemeClr val="dk1"/>
              </a:solidFill>
            </a:endParaRPr>
          </a:p>
          <a:p>
            <a:pPr indent="0" lvl="0" marL="0" rtl="0" algn="l">
              <a:lnSpc>
                <a:spcPct val="115000"/>
              </a:lnSpc>
              <a:spcBef>
                <a:spcPts val="1200"/>
              </a:spcBef>
              <a:spcAft>
                <a:spcPts val="1200"/>
              </a:spcAft>
              <a:buNone/>
            </a:pPr>
            <a:r>
              <a:rPr lang="es-CL" sz="1200">
                <a:solidFill>
                  <a:schemeClr val="lt1"/>
                </a:solidFill>
              </a:rPr>
              <a:t>Normalización básica, claves foráneas, relaciones claras y tipos adecuados.</a:t>
            </a:r>
            <a:endParaRPr sz="1200">
              <a:solidFill>
                <a:schemeClr val="lt1"/>
              </a:solidFill>
            </a:endParaRPr>
          </a:p>
        </p:txBody>
      </p:sp>
      <p:sp>
        <p:nvSpPr>
          <p:cNvPr id="319" name="Google Shape;319;g3ac84433e37_0_10"/>
          <p:cNvSpPr txBox="1"/>
          <p:nvPr/>
        </p:nvSpPr>
        <p:spPr>
          <a:xfrm>
            <a:off x="0" y="2823663"/>
            <a:ext cx="12038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200">
                <a:solidFill>
                  <a:schemeClr val="lt1"/>
                </a:solidFill>
              </a:rPr>
              <a:t>UUID es un identificador único universal que utilizo como clave primaria en todas las tablas. Es más seguro que un ID numérico secuencial y evita colisiones. Los campos como </a:t>
            </a:r>
            <a:r>
              <a:rPr lang="es-CL" sz="1200">
                <a:solidFill>
                  <a:schemeClr val="lt1"/>
                </a:solidFill>
                <a:latin typeface="Roboto Mono"/>
                <a:ea typeface="Roboto Mono"/>
                <a:cs typeface="Roboto Mono"/>
                <a:sym typeface="Roboto Mono"/>
              </a:rPr>
              <a:t>user_id</a:t>
            </a:r>
            <a:r>
              <a:rPr lang="es-CL" sz="1200">
                <a:solidFill>
                  <a:schemeClr val="lt1"/>
                </a:solidFill>
              </a:rPr>
              <a:t> son claves foráneas que referencian esos UUIDs en la tabla users.</a:t>
            </a:r>
            <a:endParaRPr sz="1500">
              <a:solidFill>
                <a:schemeClr val="lt1"/>
              </a:solidFill>
            </a:endParaRPr>
          </a:p>
        </p:txBody>
      </p:sp>
      <p:sp>
        <p:nvSpPr>
          <p:cNvPr id="320" name="Google Shape;320;g3ac84433e37_0_10"/>
          <p:cNvSpPr txBox="1"/>
          <p:nvPr/>
        </p:nvSpPr>
        <p:spPr>
          <a:xfrm>
            <a:off x="0" y="2360663"/>
            <a:ext cx="7931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rPr b="1" lang="es-CL" sz="1200">
                <a:solidFill>
                  <a:schemeClr val="dk1"/>
                </a:solidFill>
              </a:rPr>
              <a:t>21</a:t>
            </a:r>
            <a:r>
              <a:rPr b="1" lang="es-CL" sz="1200">
                <a:solidFill>
                  <a:schemeClr val="dk1"/>
                </a:solidFill>
              </a:rPr>
              <a:t>. ¿Qué es UUID?</a:t>
            </a:r>
            <a:endParaRPr b="1" sz="1200">
              <a:solidFill>
                <a:schemeClr val="dk1"/>
              </a:solidFill>
            </a:endParaRPr>
          </a:p>
        </p:txBody>
      </p:sp>
      <p:sp>
        <p:nvSpPr>
          <p:cNvPr id="321" name="Google Shape;321;g3ac84433e37_0_10"/>
          <p:cNvSpPr txBox="1"/>
          <p:nvPr/>
        </p:nvSpPr>
        <p:spPr>
          <a:xfrm>
            <a:off x="0" y="3943238"/>
            <a:ext cx="1219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200">
                <a:solidFill>
                  <a:schemeClr val="lt1"/>
                </a:solidFill>
              </a:rPr>
              <a:t>Usar UUID permite generar identificadores totalmente únicos sin depender del servidor o de un contador incremental. Esto aumenta la seguridad, evita colisiones, facilita la escalabilidad y permite exponer IDs en la API sin revelar información sensible, como cuántos usuarios o registros existen en el sistema.</a:t>
            </a:r>
            <a:endParaRPr sz="1200">
              <a:solidFill>
                <a:schemeClr val="lt1"/>
              </a:solidFill>
            </a:endParaRPr>
          </a:p>
        </p:txBody>
      </p:sp>
      <p:sp>
        <p:nvSpPr>
          <p:cNvPr id="322" name="Google Shape;322;g3ac84433e37_0_10"/>
          <p:cNvSpPr txBox="1"/>
          <p:nvPr/>
        </p:nvSpPr>
        <p:spPr>
          <a:xfrm>
            <a:off x="0" y="353145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rPr b="1" lang="es-CL" sz="1200">
                <a:solidFill>
                  <a:schemeClr val="dk1"/>
                </a:solidFill>
              </a:rPr>
              <a:t>22. ¿Porque utilizar UUID??</a:t>
            </a:r>
            <a:endParaRPr b="1" sz="1200">
              <a:solidFill>
                <a:schemeClr val="dk1"/>
              </a:solidFill>
            </a:endParaRPr>
          </a:p>
        </p:txBody>
      </p:sp>
      <p:sp>
        <p:nvSpPr>
          <p:cNvPr id="323" name="Google Shape;323;g3ac84433e37_0_10"/>
          <p:cNvSpPr txBox="1"/>
          <p:nvPr/>
        </p:nvSpPr>
        <p:spPr>
          <a:xfrm>
            <a:off x="0" y="4539850"/>
            <a:ext cx="12192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CL" sz="1100">
                <a:solidFill>
                  <a:schemeClr val="dk1"/>
                </a:solidFill>
              </a:rPr>
              <a:t>23.</a:t>
            </a:r>
            <a:r>
              <a:rPr b="1" lang="es-CL" sz="1100">
                <a:solidFill>
                  <a:schemeClr val="dk1"/>
                </a:solidFill>
              </a:rPr>
              <a:t>¿Cómo aseguramos la integridad y consistencia de los datos entre las tablas del sistema?</a:t>
            </a:r>
            <a:endParaRPr b="1" sz="1100">
              <a:solidFill>
                <a:schemeClr val="dk1"/>
              </a:solidFill>
            </a:endParaRPr>
          </a:p>
        </p:txBody>
      </p:sp>
      <p:sp>
        <p:nvSpPr>
          <p:cNvPr id="324" name="Google Shape;324;g3ac84433e37_0_10"/>
          <p:cNvSpPr txBox="1"/>
          <p:nvPr/>
        </p:nvSpPr>
        <p:spPr>
          <a:xfrm>
            <a:off x="0" y="4936350"/>
            <a:ext cx="1219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200">
                <a:solidFill>
                  <a:schemeClr val="lt1"/>
                </a:solidFill>
              </a:rPr>
              <a:t>Aseguramos la integridad usando claves foráneas en PostgreSQL, que impiden que existan datos huérfanos, y validaciones en el backend que revisan formatos, tipos y relaciones antes de guardar. Así la base de datos y el backend trabajan juntos para mantener los datos consistentes.</a:t>
            </a:r>
            <a:endParaRPr sz="12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cp:coreProperties>
</file>